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43"/>
  </p:normalViewPr>
  <p:slideViewPr>
    <p:cSldViewPr snapToGrid="0" snapToObjects="1">
      <p:cViewPr varScale="1">
        <p:scale>
          <a:sx n="139" d="100"/>
          <a:sy n="139" d="100"/>
        </p:scale>
        <p:origin x="133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5374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We are Team CleanCAD, presenting our capstone project proposal: Mold-Part Defeaturing, developed together with HP Printing Korea. I'm Junoh Lee, team lead, and this is Hemanth, Aneela, and Elias. Over the next few minutes we'll walk through the problem, our goals, the requirements we've confirmed with HP, our system design, and our plan through the end of the semester.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running CAE simulations, mold and part CAD models contain a lot of small geometric detail that manufacturing needs but analysis doesn't: holes, fillets, chamfers, ribs, bosses, embosses. These details barely change the analysis result but dramatically increase mesh generation and solve time. Today, HP's CAE engineers remove these details by hand before every analysis. It's slow, it's repeated for every part, it depends on each engineer's personal judgment so results are inconsistent, and it simply doesn't scale to HP's volume of simulation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an engineering standpoint this isn't really a CAD-editing problem, it's a recognition and decision problem: can we automatically recognize shape features and decide, with high accuracy, which ones are safe to remove — while staying fast enough to actually replace manual work, and light enough to run without a GPU? That question splits cleanly into two layers, which is exactly how our architecture is organized: a geometry layer that reads, modifies, and heals CAD data deterministically, and a decision layer that learns which features matter, starting with simple rules and evolving into a trained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technical goals: automate the full STEP-to-STEP preprocessing pipeline, recognize the six feature types HP cares about, and make keep/remove decisions in two stages — rules first, machine learning second — with a loop that retrains on corrected mistakes. Critically, the tool assists the engineer, it doesn't replace their judgment — every result goes through mandatory review. On the quantitative side, our primary success metric, confirmed with HP, is defeaturing accuracy — not analysis accuracy, which is out of scope. Our secondary metric is 70 to 90 percent reduction in preprocessing time. And because HP engineers work on regular laptops, inference has to run without a GPU; only training can use one. Beyond the deliverable, our learning goals cover CAD fundamentals, graph neural networks, staged AI system design, and working effectively as a distributed, multicultural team.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 functional requirement areas, all Must-priority, all confirmed with the HP mentor. CAD input and output is STEP only, through FreeCAD's headless API. We recognize six feature types and convert the geometry to a graph. Decision-making is staged: rules first, ML second. Removal always includes geometry healing to keep the model watertight. When healing fails, we don't crash — we store the geometry and the failing face ID so it can be corrected and fed back into training. The comparison report is visual only, no text summary, per the mentor's explicit request. Every single result goes through engineer review before it's final. Faces selected for removal are highlighted in red in an exported STEP file, so the engineer can check the selection. And all training data is either public datasets or shapes we author ourselves — HP's real CAD data is confidential and was never provided.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non-functional categories. Performance ties back to our two metrics — time reduction and CPU-only inference. Reliability means we never touch the original file and every output is a valid watertight solid. Portability means no NX license dependency and headless batch execution, not manual GUI scripting. Security is strict — no confidential HP data ever enters our public repository, only public datasets and our own authored shapes. Usability means the visual report has to make sense to a CAE engineer with zero AI background. Maintainability keeps the codebase split along the same lines as the architecture, so each team member can work independently. And accuracy is explicitly scoped to defeaturing accuracy — downstream CAE analysis accuracy is out of scope, confirmed by the mentor.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core runtime pipeline. A STEP file comes in, gets parsed into B-rep geometry, converted to a graph, analyzed by the GNN, and the decision logic proposes which features to keep or remove. The removal engine applies that and heals the geometry, and the output stage produces both the simplified STEP and a visual comparison report. Every result then goes through mandatory engineer review before it's finalized. Separately, mesh-quality and visual validation confirm the result meets our success criteria. The model used in the recognition step is trained offline — that's a separate pipeline we'll show next.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Walking through each module: M1 parses STEP into an in-memory B-rep shape. M2 converts that into a graph — faces as nodes, adjacency as edges. M3 is the trained GNN, which labels each face with a confidence score. M4 is the decision logic — rule-based first, ML second — which proposes, not finalizes, a removal list. M5 executes the removal and heals the geometry; failures here are stored and routed into the retraining data instead of crashing the pipeline. M6 exports the simplified STEP and builds the visual report. M7 is the mandatory human checkpoint. And M8 independently validates mesh quality and visual correctness.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weighed real alternatives at each major decision point, not just picked the first option. For the CAD toolchain: pythonocc-core gives the most direct control but wasn't what the mentor confirmed; cadquery is fine for generating STEP files but not for full geometry operations; FreeCAD's headless API is what HP actually validated, so that's our choice. For decision logic: rule-only is fast but brittle, ML-only is too slow to bootstrap without data, so we're staged — rules now, ML layered in. And since occwl depends on pythonocc-core, which we're not using, we're building our own lightweight graph conversion directly on the FreeCAD API.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our final choices. FreeCAD's headless Python API for the whole CAD toolchain — this was directly confirmed by the HP mentor on September 18th, and it resolved a real discrepancy: our own research pointed at pythonocc-core, the mentor's own slide said FreeCAD API, and the school's server guide said cadquery. We asked directly and got a clear answer. Decision logic is staged rather than a single model — more integration work, but far less schedule risk. And graph conversion is built in-house rather than reusing occwl, because occwl is tied to pythonocc-core specifically.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isn't a mockup — these are real screenshots from our own working prototype. The framework the CAD lead built groups faces into physical features, removes them, and heals the geometry, and we've verified it against nine self-authored test shapes covering all the feature types HP described, with nine out of nine passing. Here you can see two examples live: a near-edge feature case and a ribbed part — red shows what the system selected for removal, and the second image shows the healed result. To be clear: this proves the mechanism — the removal and healing engine — works. The actual judgment of *what* should be removed is the harder part, and that's the core work still ahead for the team.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development strategy is phase-based: shared mechanism first, then Stage 1 rule-based integration for an early demo, then we scale up data in parallel with Stage 2 ML training, then full integration, then validation and the retraining loop. The four of us work largely in parallel along our roles — CAD mechanics, ML and graph modeling under the CPU-inference constraint, data generation and labeling, and integration and testing. Our testing strategy is already running: headless checks compare every result against expected values, and we also have a live visual demo mode for reviewing results by eye.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 weeks, eight phases. We're in Definition now, wrapping up toolchain and mechanism validation. Week 4 is this proposal. HLD is due October 15th with module contracts finalized. LLD and a working Stage 1 rule-based pipeline by October 22nd. We demo that live to the HP mentor October 29th. Then weeks 9 through 11 are the heaviest implementation stretch — data scale-up, Stage 2 ML training, full integration — targeting core functionality complete by November 19th, which is before Week 12 as the course requires. The last month is validation, the retraining loop, and wrapping up the final report and demo by December 17th.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risks we've identified so far, tagged by type. Two technical risks come directly from what we found while prototyping: FreeCAD silently no-ops instead of raising an exception when a face can't be removed, so we built explicit before/after comparison to catch that; and the red-face STEP export the mentor asked for only works in FreeCAD's GUI mode, not headless, so we'll isolate that as its own step. Two schedule risks: ML underperforming, which we mitigate by making Stage 1 independently demoable so ML is additive rather than a blocker; and uneven engagement across a distributed team, which we mitigate by having the team lead own the critical-path modules directly. And one scope risk — trying to support too many feature types — mitigated by prioritizing the three shape types HP specifically named. Most importantly, we have an explicit fallback: if Stage 2 isn't reliable by Week 12, we ship the rule-based pipeline plus failure-case collection as our final result, rather than risking an incomplete ML system.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HP provides domain guidance on how defeaturing should actually work, a concrete test-shape specification, and direct, confirmed answers on technical constraints like toolchain and deployment environment. Our mentoring is through recurring meetings with Byoungho Yoo from HP's CAE team. Our feedback loop is simple: we bring open questions to every meeting, and the answers get written directly into our FRD and NFRD with a dated revision history, so nothing gets lost or reinterpreted later. And we've been explicit about where academic scope and company interest diverge: HP cares about defeaturing accuracy and preprocessing time; downstream CAE analysis accuracy is explicitly out of scope for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expected impact is a 70 to 90 percent cut in CAD preprocessing time, plus something more durable than a one-off script: a model that keeps improving through the retraining loop. It fits directly into HP's existing workflow as a preprocessing step, and because inference needs no GPU, it runs on a standard engineering laptop, not just a lab machine. Looking ahead: we'd like to expand feature-type coverage beyond the three HP specified, add NX support if licensing allows, build a lighter review interface than our current image-plus-approve flow, and let the retraining loop keep the model improving as more real parts are processed.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sub-roles, mapped directly to the four pipeline layers we described earlier. </a:t>
            </a:r>
            <a:r>
              <a:rPr dirty="0" err="1"/>
              <a:t>Junoh</a:t>
            </a:r>
            <a:r>
              <a:rPr dirty="0"/>
              <a:t> leads the team and owns the CAD geometry engineering — the shared mechanism everyone else builds on. Hemanth owns the ML and graph modeling side, including the constraint that inference has to run on a CPU. </a:t>
            </a:r>
            <a:r>
              <a:rPr dirty="0" err="1"/>
              <a:t>Aneela</a:t>
            </a:r>
            <a:r>
              <a:rPr dirty="0"/>
              <a:t> owns data — generating and labeling our own test shapes, and doing error analysis when the model gets something wrong. Elias owns integration and testing — the module contracts and automated verification that keep everyone's work compatible. Decisions go through the team lead, informed by mentor input where relevant, and all code changes go through a personal branch and review before merging.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354"/>
        </a:solidFill>
        <a:effectLst/>
      </p:bgPr>
    </p:bg>
    <p:spTree>
      <p:nvGrpSpPr>
        <p:cNvPr id="1" name=""/>
        <p:cNvGrpSpPr/>
        <p:nvPr/>
      </p:nvGrpSpPr>
      <p:grpSpPr>
        <a:xfrm>
          <a:off x="0" y="0"/>
          <a:ext cx="0" cy="0"/>
          <a:chOff x="0" y="0"/>
          <a:chExt cx="0" cy="0"/>
        </a:xfrm>
      </p:grpSpPr>
      <p:sp>
        <p:nvSpPr>
          <p:cNvPr id="2" name="TextBox 1"/>
          <p:cNvSpPr txBox="1"/>
          <p:nvPr/>
        </p:nvSpPr>
        <p:spPr>
          <a:xfrm>
            <a:off x="822960" y="1828800"/>
            <a:ext cx="10515600" cy="2011680"/>
          </a:xfrm>
          <a:prstGeom prst="rect">
            <a:avLst/>
          </a:prstGeom>
          <a:noFill/>
        </p:spPr>
        <p:txBody>
          <a:bodyPr wrap="square">
            <a:spAutoFit/>
          </a:bodyPr>
          <a:lstStyle/>
          <a:p>
            <a:r>
              <a:rPr sz="4400" b="1">
                <a:solidFill>
                  <a:srgbClr val="FFFFFF"/>
                </a:solidFill>
              </a:rPr>
              <a:t>Mold-Part Defeaturing</a:t>
            </a:r>
          </a:p>
          <a:p>
            <a:r>
              <a:rPr sz="2400">
                <a:solidFill>
                  <a:srgbClr val="B8860B"/>
                </a:solidFill>
              </a:rPr>
              <a:t>Project Proposal</a:t>
            </a:r>
          </a:p>
        </p:txBody>
      </p:sp>
      <p:sp>
        <p:nvSpPr>
          <p:cNvPr id="3" name="TextBox 2"/>
          <p:cNvSpPr txBox="1"/>
          <p:nvPr/>
        </p:nvSpPr>
        <p:spPr>
          <a:xfrm>
            <a:off x="822960" y="4114800"/>
            <a:ext cx="10515600" cy="2377440"/>
          </a:xfrm>
          <a:prstGeom prst="rect">
            <a:avLst/>
          </a:prstGeom>
          <a:noFill/>
        </p:spPr>
        <p:txBody>
          <a:bodyPr wrap="square">
            <a:spAutoFit/>
          </a:bodyPr>
          <a:lstStyle/>
          <a:p>
            <a:pPr>
              <a:spcAft>
                <a:spcPts val="1000"/>
              </a:spcAft>
            </a:pPr>
            <a:r>
              <a:rPr sz="1500" b="1">
                <a:solidFill>
                  <a:srgbClr val="B8860B"/>
                </a:solidFill>
              </a:rPr>
              <a:t>Company Partner:  </a:t>
            </a:r>
            <a:r>
              <a:rPr sz="1500">
                <a:solidFill>
                  <a:srgbClr val="FFFFFF"/>
                </a:solidFill>
              </a:rPr>
              <a:t>HP Printing Korea  (Mentor: Byoungho Yoo, CAE)</a:t>
            </a:r>
          </a:p>
          <a:p>
            <a:pPr>
              <a:spcAft>
                <a:spcPts val="1000"/>
              </a:spcAft>
            </a:pPr>
            <a:r>
              <a:rPr sz="1500" b="1">
                <a:solidFill>
                  <a:srgbClr val="B8860B"/>
                </a:solidFill>
              </a:rPr>
              <a:t>Team:  </a:t>
            </a:r>
            <a:r>
              <a:rPr sz="1500">
                <a:solidFill>
                  <a:srgbClr val="FFFFFF"/>
                </a:solidFill>
              </a:rPr>
              <a:t>CleanCAD  (HP2)</a:t>
            </a:r>
          </a:p>
          <a:p>
            <a:pPr>
              <a:spcAft>
                <a:spcPts val="1000"/>
              </a:spcAft>
            </a:pPr>
            <a:r>
              <a:rPr sz="1500" b="1">
                <a:solidFill>
                  <a:srgbClr val="B8860B"/>
                </a:solidFill>
              </a:rPr>
              <a:t>Team Members:  </a:t>
            </a:r>
            <a:r>
              <a:rPr sz="1500">
                <a:solidFill>
                  <a:srgbClr val="FFFFFF"/>
                </a:solidFill>
              </a:rPr>
              <a:t>Junoh Lee (Team Lead / CAD)  ·  Hemanth Reddy Vangala (ML / Graph)  ·  Aneela Tahir (Data)  ·  Balcha Kidus Elias (Integration &amp; Test)</a:t>
            </a:r>
          </a:p>
          <a:p>
            <a:pPr>
              <a:spcAft>
                <a:spcPts val="1000"/>
              </a:spcAft>
            </a:pPr>
            <a:r>
              <a:rPr sz="1500" b="1">
                <a:solidFill>
                  <a:srgbClr val="B8860B"/>
                </a:solidFill>
              </a:rPr>
              <a:t>Presentation Date:  </a:t>
            </a:r>
            <a:r>
              <a:rPr sz="1500">
                <a:solidFill>
                  <a:srgbClr val="FFFFFF"/>
                </a:solidFill>
              </a:rPr>
              <a:t>October 1,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1. BACKGROUND &amp; PROBLEM (1/2)</a:t>
            </a:r>
          </a:p>
          <a:p>
            <a:r>
              <a:rPr sz="2800" b="1">
                <a:solidFill>
                  <a:srgbClr val="FFFFFF"/>
                </a:solidFill>
              </a:rPr>
              <a:t>Industrial Background</a:t>
            </a:r>
          </a:p>
        </p:txBody>
      </p:sp>
      <p:sp>
        <p:nvSpPr>
          <p:cNvPr id="4" name="TextBox 3"/>
          <p:cNvSpPr txBox="1"/>
          <p:nvPr/>
        </p:nvSpPr>
        <p:spPr>
          <a:xfrm>
            <a:off x="640080" y="1371600"/>
            <a:ext cx="10911535" cy="4937760"/>
          </a:xfrm>
          <a:prstGeom prst="rect">
            <a:avLst/>
          </a:prstGeom>
          <a:noFill/>
        </p:spPr>
        <p:txBody>
          <a:bodyPr wrap="square">
            <a:spAutoFit/>
          </a:bodyPr>
          <a:lstStyle/>
          <a:p>
            <a:pPr>
              <a:spcAft>
                <a:spcPts val="1400"/>
              </a:spcAft>
            </a:pPr>
            <a:r>
              <a:rPr sz="2000" b="1">
                <a:solidFill>
                  <a:srgbClr val="1F3354"/>
                </a:solidFill>
              </a:rPr>
              <a:t>▪  Mold/part CAD carries manufacturing detail</a:t>
            </a:r>
          </a:p>
          <a:p>
            <a:pPr lvl="1">
              <a:spcAft>
                <a:spcPts val="1400"/>
              </a:spcAft>
            </a:pPr>
            <a:r>
              <a:rPr sz="1800" b="0">
                <a:solidFill>
                  <a:srgbClr val="333333"/>
                </a:solidFill>
              </a:rPr>
              <a:t>–  holes, fillets, chamfers, ribs, bosses, embosses</a:t>
            </a:r>
          </a:p>
          <a:p>
            <a:pPr>
              <a:spcAft>
                <a:spcPts val="1400"/>
              </a:spcAft>
            </a:pPr>
            <a:r>
              <a:rPr sz="2000" b="1">
                <a:solidFill>
                  <a:srgbClr val="1F3354"/>
                </a:solidFill>
              </a:rPr>
              <a:t>▪  These details barely affect CAE analysis</a:t>
            </a:r>
          </a:p>
          <a:p>
            <a:pPr lvl="1">
              <a:spcAft>
                <a:spcPts val="1400"/>
              </a:spcAft>
            </a:pPr>
            <a:r>
              <a:rPr sz="1800" b="0">
                <a:solidFill>
                  <a:srgbClr val="333333"/>
                </a:solidFill>
              </a:rPr>
              <a:t>–  but sharply increase mesh &amp; solve time</a:t>
            </a:r>
          </a:p>
          <a:p>
            <a:pPr>
              <a:spcAft>
                <a:spcPts val="1400"/>
              </a:spcAft>
            </a:pPr>
            <a:r>
              <a:rPr sz="2000" b="1">
                <a:solidFill>
                  <a:srgbClr val="1F3354"/>
                </a:solidFill>
              </a:rPr>
              <a:t>▪  HP's problem: manual defeaturing</a:t>
            </a:r>
          </a:p>
          <a:p>
            <a:pPr lvl="1">
              <a:spcAft>
                <a:spcPts val="1400"/>
              </a:spcAft>
            </a:pPr>
            <a:r>
              <a:rPr sz="1800" b="0">
                <a:solidFill>
                  <a:srgbClr val="333333"/>
                </a:solidFill>
              </a:rPr>
              <a:t>–  slow, repetitive, before every single analysis</a:t>
            </a:r>
          </a:p>
          <a:p>
            <a:pPr lvl="1">
              <a:spcAft>
                <a:spcPts val="1400"/>
              </a:spcAft>
            </a:pPr>
            <a:r>
              <a:rPr sz="1800" b="0">
                <a:solidFill>
                  <a:srgbClr val="333333"/>
                </a:solidFill>
              </a:rPr>
              <a:t>–  inconsistent — depends on each engineer's experience</a:t>
            </a:r>
          </a:p>
          <a:p>
            <a:pPr lvl="1">
              <a:spcAft>
                <a:spcPts val="1400"/>
              </a:spcAft>
            </a:pPr>
            <a:r>
              <a:rPr sz="1800" b="0">
                <a:solidFill>
                  <a:srgbClr val="333333"/>
                </a:solidFill>
              </a:rPr>
              <a:t>–  doesn't scale to high-volume simulation work</a:t>
            </a:r>
          </a:p>
        </p:txBody>
      </p:sp>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1. BACKGROUND &amp; PROBLEM (2/2)</a:t>
            </a:r>
          </a:p>
          <a:p>
            <a:r>
              <a:rPr sz="2800" b="1">
                <a:solidFill>
                  <a:srgbClr val="FFFFFF"/>
                </a:solidFill>
              </a:rPr>
              <a:t>Problem Reframing</a:t>
            </a:r>
          </a:p>
        </p:txBody>
      </p:sp>
      <p:sp>
        <p:nvSpPr>
          <p:cNvPr id="4" name="TextBox 3"/>
          <p:cNvSpPr txBox="1"/>
          <p:nvPr/>
        </p:nvSpPr>
        <p:spPr>
          <a:xfrm>
            <a:off x="640080" y="1371600"/>
            <a:ext cx="10911535" cy="4937760"/>
          </a:xfrm>
          <a:prstGeom prst="rect">
            <a:avLst/>
          </a:prstGeom>
          <a:noFill/>
        </p:spPr>
        <p:txBody>
          <a:bodyPr wrap="square">
            <a:spAutoFit/>
          </a:bodyPr>
          <a:lstStyle/>
          <a:p>
            <a:pPr>
              <a:spcAft>
                <a:spcPts val="1400"/>
              </a:spcAft>
            </a:pPr>
            <a:r>
              <a:rPr sz="2000" b="1">
                <a:solidFill>
                  <a:srgbClr val="1F3354"/>
                </a:solidFill>
              </a:rPr>
              <a:t>▪  Not a CAD-editing problem —</a:t>
            </a:r>
          </a:p>
          <a:p>
            <a:pPr lvl="1">
              <a:spcAft>
                <a:spcPts val="1400"/>
              </a:spcAft>
            </a:pPr>
            <a:r>
              <a:rPr sz="1800" b="0">
                <a:solidFill>
                  <a:srgbClr val="333333"/>
                </a:solidFill>
              </a:rPr>
              <a:t>–  a recognition + decision problem</a:t>
            </a:r>
          </a:p>
          <a:p>
            <a:pPr>
              <a:spcAft>
                <a:spcPts val="1400"/>
              </a:spcAft>
            </a:pPr>
            <a:r>
              <a:rPr sz="2000" b="1">
                <a:solidFill>
                  <a:srgbClr val="1F3354"/>
                </a:solidFill>
              </a:rPr>
              <a:t>▪  Core question:</a:t>
            </a:r>
          </a:p>
          <a:p>
            <a:pPr lvl="1">
              <a:spcAft>
                <a:spcPts val="1400"/>
              </a:spcAft>
            </a:pPr>
            <a:r>
              <a:rPr sz="1800" b="0">
                <a:solidFill>
                  <a:srgbClr val="333333"/>
                </a:solidFill>
              </a:rPr>
              <a:t>–  which features are safe to remove,</a:t>
            </a:r>
          </a:p>
          <a:p>
            <a:pPr lvl="1">
              <a:spcAft>
                <a:spcPts val="1400"/>
              </a:spcAft>
            </a:pPr>
            <a:r>
              <a:rPr sz="1800" b="0">
                <a:solidFill>
                  <a:srgbClr val="333333"/>
                </a:solidFill>
              </a:rPr>
              <a:t>–  accurately, and fast enough to replace manual work?</a:t>
            </a:r>
          </a:p>
          <a:p>
            <a:pPr>
              <a:spcAft>
                <a:spcPts val="1400"/>
              </a:spcAft>
            </a:pPr>
            <a:r>
              <a:rPr sz="2000" b="1">
                <a:solidFill>
                  <a:srgbClr val="1F3354"/>
                </a:solidFill>
              </a:rPr>
              <a:t>▪  Maps directly to our architecture:</a:t>
            </a:r>
          </a:p>
          <a:p>
            <a:pPr lvl="1">
              <a:spcAft>
                <a:spcPts val="1400"/>
              </a:spcAft>
            </a:pPr>
            <a:r>
              <a:rPr sz="1800" b="0">
                <a:solidFill>
                  <a:srgbClr val="333333"/>
                </a:solidFill>
              </a:rPr>
              <a:t>–  Geometry layer — deterministic engineering</a:t>
            </a:r>
          </a:p>
          <a:p>
            <a:pPr lvl="1">
              <a:spcAft>
                <a:spcPts val="1400"/>
              </a:spcAft>
            </a:pPr>
            <a:r>
              <a:rPr sz="1800" b="0">
                <a:solidFill>
                  <a:srgbClr val="333333"/>
                </a:solidFill>
              </a:rPr>
              <a:t>–  Decision layer — rule-based, then ML</a:t>
            </a:r>
          </a:p>
        </p:txBody>
      </p:sp>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2. PROJECT GOALS</a:t>
            </a:r>
          </a:p>
          <a:p>
            <a:r>
              <a:rPr sz="2800" b="1">
                <a:solidFill>
                  <a:srgbClr val="FFFFFF"/>
                </a:solidFill>
              </a:rPr>
              <a:t>Technical, Quantitative &amp; Learning Goals</a:t>
            </a:r>
          </a:p>
        </p:txBody>
      </p:sp>
      <p:sp>
        <p:nvSpPr>
          <p:cNvPr id="4" name="Rectangle 3"/>
          <p:cNvSpPr/>
          <p:nvPr/>
        </p:nvSpPr>
        <p:spPr>
          <a:xfrm>
            <a:off x="640080" y="1371600"/>
            <a:ext cx="5272887" cy="50292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Technical Goals</a:t>
            </a:r>
          </a:p>
        </p:txBody>
      </p:sp>
      <p:sp>
        <p:nvSpPr>
          <p:cNvPr id="5" name="TextBox 4"/>
          <p:cNvSpPr txBox="1"/>
          <p:nvPr/>
        </p:nvSpPr>
        <p:spPr>
          <a:xfrm>
            <a:off x="640080" y="2057400"/>
            <a:ext cx="5272887" cy="4343400"/>
          </a:xfrm>
          <a:prstGeom prst="rect">
            <a:avLst/>
          </a:prstGeom>
          <a:noFill/>
        </p:spPr>
        <p:txBody>
          <a:bodyPr wrap="square">
            <a:spAutoFit/>
          </a:bodyPr>
          <a:lstStyle/>
          <a:p>
            <a:pPr>
              <a:spcAft>
                <a:spcPts val="1000"/>
              </a:spcAft>
            </a:pPr>
            <a:r>
              <a:rPr sz="1600" b="1">
                <a:solidFill>
                  <a:srgbClr val="1F3354"/>
                </a:solidFill>
              </a:rPr>
              <a:t>▪  Automate STEP → STEP preprocessing</a:t>
            </a:r>
          </a:p>
          <a:p>
            <a:pPr>
              <a:spcAft>
                <a:spcPts val="1000"/>
              </a:spcAft>
            </a:pPr>
            <a:r>
              <a:rPr sz="1600" b="1">
                <a:solidFill>
                  <a:srgbClr val="1F3354"/>
                </a:solidFill>
              </a:rPr>
              <a:t>▪  Recognize 6 feature types; classify keep/remove</a:t>
            </a:r>
          </a:p>
          <a:p>
            <a:pPr>
              <a:spcAft>
                <a:spcPts val="1000"/>
              </a:spcAft>
            </a:pPr>
            <a:r>
              <a:rPr sz="1600" b="1">
                <a:solidFill>
                  <a:srgbClr val="1F3354"/>
                </a:solidFill>
              </a:rPr>
              <a:t>▪  Staged logic: rule-based → ML → retrain loop</a:t>
            </a:r>
          </a:p>
          <a:p>
            <a:pPr>
              <a:spcAft>
                <a:spcPts val="1000"/>
              </a:spcAft>
            </a:pPr>
            <a:r>
              <a:rPr sz="1600" b="1">
                <a:solidFill>
                  <a:srgbClr val="1F3354"/>
                </a:solidFill>
              </a:rPr>
              <a:t>▪  Decision-support only — review is mandatory</a:t>
            </a:r>
          </a:p>
        </p:txBody>
      </p:sp>
      <p:sp>
        <p:nvSpPr>
          <p:cNvPr id="6" name="Rectangle 5"/>
          <p:cNvSpPr/>
          <p:nvPr/>
        </p:nvSpPr>
        <p:spPr>
          <a:xfrm>
            <a:off x="6278727" y="1371600"/>
            <a:ext cx="5272887" cy="50292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Quantitative &amp; Learning Goals</a:t>
            </a:r>
          </a:p>
        </p:txBody>
      </p:sp>
      <p:sp>
        <p:nvSpPr>
          <p:cNvPr id="7" name="TextBox 6"/>
          <p:cNvSpPr txBox="1"/>
          <p:nvPr/>
        </p:nvSpPr>
        <p:spPr>
          <a:xfrm>
            <a:off x="6278727" y="2057400"/>
            <a:ext cx="5272887" cy="4343400"/>
          </a:xfrm>
          <a:prstGeom prst="rect">
            <a:avLst/>
          </a:prstGeom>
          <a:noFill/>
        </p:spPr>
        <p:txBody>
          <a:bodyPr wrap="square">
            <a:spAutoFit/>
          </a:bodyPr>
          <a:lstStyle/>
          <a:p>
            <a:pPr>
              <a:spcAft>
                <a:spcPts val="1000"/>
              </a:spcAft>
            </a:pPr>
            <a:r>
              <a:rPr sz="1600" b="1">
                <a:solidFill>
                  <a:srgbClr val="1F3354"/>
                </a:solidFill>
              </a:rPr>
              <a:t>▪  Metric #1 (primary): defeaturing accuracy</a:t>
            </a:r>
          </a:p>
          <a:p>
            <a:pPr>
              <a:spcAft>
                <a:spcPts val="1000"/>
              </a:spcAft>
            </a:pPr>
            <a:r>
              <a:rPr sz="1600" b="1">
                <a:solidFill>
                  <a:srgbClr val="1F3354"/>
                </a:solidFill>
              </a:rPr>
              <a:t>▪  Metric #2: 70–90% preprocessing time cut</a:t>
            </a:r>
          </a:p>
          <a:p>
            <a:pPr>
              <a:spcAft>
                <a:spcPts val="1000"/>
              </a:spcAft>
            </a:pPr>
            <a:r>
              <a:rPr sz="1600" b="1">
                <a:solidFill>
                  <a:srgbClr val="1F3354"/>
                </a:solidFill>
              </a:rPr>
              <a:t>▪  CPU-only inference; GPU only for training</a:t>
            </a:r>
          </a:p>
          <a:p>
            <a:pPr>
              <a:spcAft>
                <a:spcPts val="1000"/>
              </a:spcAft>
            </a:pPr>
            <a:r>
              <a:rPr sz="1600" b="1">
                <a:solidFill>
                  <a:srgbClr val="1F3354"/>
                </a:solidFill>
              </a:rPr>
              <a:t>▪  Learn: B-rep/STEP, GNNs, staged AI, remote teamwork</a:t>
            </a:r>
          </a:p>
        </p:txBody>
      </p:sp>
      <p:sp>
        <p:nvSpPr>
          <p:cNvPr id="8" name="TextBox 7"/>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3. REQUIREMENTS (1/2)</a:t>
            </a:r>
          </a:p>
          <a:p>
            <a:r>
              <a:rPr sz="2800" b="1">
                <a:solidFill>
                  <a:srgbClr val="FFFFFF"/>
                </a:solidFill>
              </a:rPr>
              <a:t>Functional Requirements — Summary</a:t>
            </a:r>
          </a:p>
        </p:txBody>
      </p:sp>
      <p:graphicFrame>
        <p:nvGraphicFramePr>
          <p:cNvPr id="4" name="Table 3"/>
          <p:cNvGraphicFramePr>
            <a:graphicFrameLocks noGrp="1"/>
          </p:cNvGraphicFramePr>
          <p:nvPr/>
        </p:nvGraphicFramePr>
        <p:xfrm>
          <a:off x="640080" y="1417320"/>
          <a:ext cx="10911533" cy="4572000"/>
        </p:xfrm>
        <a:graphic>
          <a:graphicData uri="http://schemas.openxmlformats.org/drawingml/2006/table">
            <a:tbl>
              <a:tblPr firstRow="1" bandRow="1">
                <a:tableStyleId>{5C22544A-7EE6-4342-B048-85BDC9FD1C3A}</a:tableStyleId>
              </a:tblPr>
              <a:tblGrid>
                <a:gridCol w="2321603">
                  <a:extLst>
                    <a:ext uri="{9D8B030D-6E8A-4147-A177-3AD203B41FA5}">
                      <a16:colId xmlns:a16="http://schemas.microsoft.com/office/drawing/2014/main" val="20000"/>
                    </a:ext>
                  </a:extLst>
                </a:gridCol>
                <a:gridCol w="7196969">
                  <a:extLst>
                    <a:ext uri="{9D8B030D-6E8A-4147-A177-3AD203B41FA5}">
                      <a16:colId xmlns:a16="http://schemas.microsoft.com/office/drawing/2014/main" val="20001"/>
                    </a:ext>
                  </a:extLst>
                </a:gridCol>
                <a:gridCol w="1392961">
                  <a:extLst>
                    <a:ext uri="{9D8B030D-6E8A-4147-A177-3AD203B41FA5}">
                      <a16:colId xmlns:a16="http://schemas.microsoft.com/office/drawing/2014/main" val="20002"/>
                    </a:ext>
                  </a:extLst>
                </a:gridCol>
              </a:tblGrid>
              <a:tr h="457200">
                <a:tc>
                  <a:txBody>
                    <a:bodyPr/>
                    <a:lstStyle/>
                    <a:p>
                      <a:r>
                        <a:rPr sz="1500" b="1">
                          <a:solidFill>
                            <a:srgbClr val="FFFFFF"/>
                          </a:solidFill>
                        </a:rPr>
                        <a:t>Area</a:t>
                      </a:r>
                    </a:p>
                  </a:txBody>
                  <a:tcPr>
                    <a:solidFill>
                      <a:srgbClr val="1F3354"/>
                    </a:solidFill>
                  </a:tcPr>
                </a:tc>
                <a:tc>
                  <a:txBody>
                    <a:bodyPr/>
                    <a:lstStyle/>
                    <a:p>
                      <a:r>
                        <a:rPr sz="1500" b="1">
                          <a:solidFill>
                            <a:srgbClr val="FFFFFF"/>
                          </a:solidFill>
                        </a:rPr>
                        <a:t>Requirement</a:t>
                      </a:r>
                    </a:p>
                  </a:txBody>
                  <a:tcPr>
                    <a:solidFill>
                      <a:srgbClr val="1F3354"/>
                    </a:solidFill>
                  </a:tcPr>
                </a:tc>
                <a:tc>
                  <a:txBody>
                    <a:bodyPr/>
                    <a:lstStyle/>
                    <a:p>
                      <a:r>
                        <a:rPr sz="1500" b="1">
                          <a:solidFill>
                            <a:srgbClr val="FFFFFF"/>
                          </a:solidFill>
                        </a:rPr>
                        <a:t>Pri.</a:t>
                      </a:r>
                    </a:p>
                  </a:txBody>
                  <a:tcPr>
                    <a:solidFill>
                      <a:srgbClr val="1F3354"/>
                    </a:solidFill>
                  </a:tcPr>
                </a:tc>
                <a:extLst>
                  <a:ext uri="{0D108BD9-81ED-4DB2-BD59-A6C34878D82A}">
                    <a16:rowId xmlns:a16="http://schemas.microsoft.com/office/drawing/2014/main" val="10000"/>
                  </a:ext>
                </a:extLst>
              </a:tr>
              <a:tr h="457200">
                <a:tc>
                  <a:txBody>
                    <a:bodyPr/>
                    <a:lstStyle/>
                    <a:p>
                      <a:r>
                        <a:rPr sz="1500">
                          <a:solidFill>
                            <a:srgbClr val="222222"/>
                          </a:solidFill>
                        </a:rPr>
                        <a:t>CAD I/O</a:t>
                      </a:r>
                    </a:p>
                  </a:txBody>
                  <a:tcPr>
                    <a:solidFill>
                      <a:srgbClr val="FFFFFF"/>
                    </a:solidFill>
                  </a:tcPr>
                </a:tc>
                <a:tc>
                  <a:txBody>
                    <a:bodyPr/>
                    <a:lstStyle/>
                    <a:p>
                      <a:r>
                        <a:rPr sz="1500">
                          <a:solidFill>
                            <a:srgbClr val="222222"/>
                          </a:solidFill>
                        </a:rPr>
                        <a:t>STEP in/out via FreeCAD headless API</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1"/>
                  </a:ext>
                </a:extLst>
              </a:tr>
              <a:tr h="457200">
                <a:tc>
                  <a:txBody>
                    <a:bodyPr/>
                    <a:lstStyle/>
                    <a:p>
                      <a:r>
                        <a:rPr sz="1500">
                          <a:solidFill>
                            <a:srgbClr val="222222"/>
                          </a:solidFill>
                        </a:rPr>
                        <a:t>Feature Recognition</a:t>
                      </a:r>
                    </a:p>
                  </a:txBody>
                  <a:tcPr>
                    <a:solidFill>
                      <a:srgbClr val="F2F4F8"/>
                    </a:solidFill>
                  </a:tcPr>
                </a:tc>
                <a:tc>
                  <a:txBody>
                    <a:bodyPr/>
                    <a:lstStyle/>
                    <a:p>
                      <a:r>
                        <a:rPr sz="1500">
                          <a:solidFill>
                            <a:srgbClr val="222222"/>
                          </a:solidFill>
                        </a:rPr>
                        <a:t>Identify 6 feature types; B-rep → graph</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2"/>
                  </a:ext>
                </a:extLst>
              </a:tr>
              <a:tr h="457200">
                <a:tc>
                  <a:txBody>
                    <a:bodyPr/>
                    <a:lstStyle/>
                    <a:p>
                      <a:r>
                        <a:rPr sz="1500">
                          <a:solidFill>
                            <a:srgbClr val="222222"/>
                          </a:solidFill>
                        </a:rPr>
                        <a:t>Decision Logic</a:t>
                      </a:r>
                    </a:p>
                  </a:txBody>
                  <a:tcPr>
                    <a:solidFill>
                      <a:srgbClr val="FFFFFF"/>
                    </a:solidFill>
                  </a:tcPr>
                </a:tc>
                <a:tc>
                  <a:txBody>
                    <a:bodyPr/>
                    <a:lstStyle/>
                    <a:p>
                      <a:r>
                        <a:rPr sz="1500">
                          <a:solidFill>
                            <a:srgbClr val="222222"/>
                          </a:solidFill>
                        </a:rPr>
                        <a:t>Stage 1 rule-based → Stage 2 ML-based</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3"/>
                  </a:ext>
                </a:extLst>
              </a:tr>
              <a:tr h="457200">
                <a:tc>
                  <a:txBody>
                    <a:bodyPr/>
                    <a:lstStyle/>
                    <a:p>
                      <a:r>
                        <a:rPr sz="1500">
                          <a:solidFill>
                            <a:srgbClr val="222222"/>
                          </a:solidFill>
                        </a:rPr>
                        <a:t>Defeaturing</a:t>
                      </a:r>
                    </a:p>
                  </a:txBody>
                  <a:tcPr>
                    <a:solidFill>
                      <a:srgbClr val="F2F4F8"/>
                    </a:solidFill>
                  </a:tcPr>
                </a:tc>
                <a:tc>
                  <a:txBody>
                    <a:bodyPr/>
                    <a:lstStyle/>
                    <a:p>
                      <a:r>
                        <a:rPr sz="1500">
                          <a:solidFill>
                            <a:srgbClr val="222222"/>
                          </a:solidFill>
                        </a:rPr>
                        <a:t>Remove + heal into a watertight model</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4"/>
                  </a:ext>
                </a:extLst>
              </a:tr>
              <a:tr h="457200">
                <a:tc>
                  <a:txBody>
                    <a:bodyPr/>
                    <a:lstStyle/>
                    <a:p>
                      <a:r>
                        <a:rPr sz="1500">
                          <a:solidFill>
                            <a:srgbClr val="222222"/>
                          </a:solidFill>
                        </a:rPr>
                        <a:t>Failure Handling</a:t>
                      </a:r>
                    </a:p>
                  </a:txBody>
                  <a:tcPr>
                    <a:solidFill>
                      <a:srgbClr val="FFFFFF"/>
                    </a:solidFill>
                  </a:tcPr>
                </a:tc>
                <a:tc>
                  <a:txBody>
                    <a:bodyPr/>
                    <a:lstStyle/>
                    <a:p>
                      <a:r>
                        <a:rPr sz="1500">
                          <a:solidFill>
                            <a:srgbClr val="222222"/>
                          </a:solidFill>
                        </a:rPr>
                        <a:t>Store geometry + face ID on failure → retrain</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5"/>
                  </a:ext>
                </a:extLst>
              </a:tr>
              <a:tr h="457200">
                <a:tc>
                  <a:txBody>
                    <a:bodyPr/>
                    <a:lstStyle/>
                    <a:p>
                      <a:r>
                        <a:rPr sz="1500">
                          <a:solidFill>
                            <a:srgbClr val="222222"/>
                          </a:solidFill>
                        </a:rPr>
                        <a:t>Reporting</a:t>
                      </a:r>
                    </a:p>
                  </a:txBody>
                  <a:tcPr>
                    <a:solidFill>
                      <a:srgbClr val="F2F4F8"/>
                    </a:solidFill>
                  </a:tcPr>
                </a:tc>
                <a:tc>
                  <a:txBody>
                    <a:bodyPr/>
                    <a:lstStyle/>
                    <a:p>
                      <a:r>
                        <a:rPr sz="1500">
                          <a:solidFill>
                            <a:srgbClr val="222222"/>
                          </a:solidFill>
                        </a:rPr>
                        <a:t>Visual before/after only — no text summary</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6"/>
                  </a:ext>
                </a:extLst>
              </a:tr>
              <a:tr h="457200">
                <a:tc>
                  <a:txBody>
                    <a:bodyPr/>
                    <a:lstStyle/>
                    <a:p>
                      <a:r>
                        <a:rPr sz="1500">
                          <a:solidFill>
                            <a:srgbClr val="222222"/>
                          </a:solidFill>
                        </a:rPr>
                        <a:t>Review</a:t>
                      </a:r>
                    </a:p>
                  </a:txBody>
                  <a:tcPr>
                    <a:solidFill>
                      <a:srgbClr val="FFFFFF"/>
                    </a:solidFill>
                  </a:tcPr>
                </a:tc>
                <a:tc>
                  <a:txBody>
                    <a:bodyPr/>
                    <a:lstStyle/>
                    <a:p>
                      <a:r>
                        <a:rPr sz="1500">
                          <a:solidFill>
                            <a:srgbClr val="222222"/>
                          </a:solidFill>
                        </a:rPr>
                        <a:t>Engineer approval on every single result</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7"/>
                  </a:ext>
                </a:extLst>
              </a:tr>
              <a:tr h="457200">
                <a:tc>
                  <a:txBody>
                    <a:bodyPr/>
                    <a:lstStyle/>
                    <a:p>
                      <a:r>
                        <a:rPr sz="1500">
                          <a:solidFill>
                            <a:srgbClr val="222222"/>
                          </a:solidFill>
                        </a:rPr>
                        <a:t>Face Highlight</a:t>
                      </a:r>
                    </a:p>
                  </a:txBody>
                  <a:tcPr>
                    <a:solidFill>
                      <a:srgbClr val="F2F4F8"/>
                    </a:solidFill>
                  </a:tcPr>
                </a:tc>
                <a:tc>
                  <a:txBody>
                    <a:bodyPr/>
                    <a:lstStyle/>
                    <a:p>
                      <a:r>
                        <a:rPr sz="1500">
                          <a:solidFill>
                            <a:srgbClr val="222222"/>
                          </a:solidFill>
                        </a:rPr>
                        <a:t>Red-highlighted removal faces saved to STEP</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8"/>
                  </a:ext>
                </a:extLst>
              </a:tr>
              <a:tr h="457200">
                <a:tc>
                  <a:txBody>
                    <a:bodyPr/>
                    <a:lstStyle/>
                    <a:p>
                      <a:r>
                        <a:rPr sz="1500">
                          <a:solidFill>
                            <a:srgbClr val="222222"/>
                          </a:solidFill>
                        </a:rPr>
                        <a:t>Training Data</a:t>
                      </a:r>
                    </a:p>
                  </a:txBody>
                  <a:tcPr>
                    <a:solidFill>
                      <a:srgbClr val="FFFFFF"/>
                    </a:solidFill>
                  </a:tcPr>
                </a:tc>
                <a:tc>
                  <a:txBody>
                    <a:bodyPr/>
                    <a:lstStyle/>
                    <a:p>
                      <a:r>
                        <a:rPr sz="1500">
                          <a:solidFill>
                            <a:srgbClr val="222222"/>
                          </a:solidFill>
                        </a:rPr>
                        <a:t>Public datasets + self-authored shapes only</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Full detail: Functional Requirements Document (FRD) v1.7 · CleanCAD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3. REQUIREMENTS (2/2)</a:t>
            </a:r>
          </a:p>
          <a:p>
            <a:r>
              <a:rPr sz="2800" b="1">
                <a:solidFill>
                  <a:srgbClr val="FFFFFF"/>
                </a:solidFill>
              </a:rPr>
              <a:t>Non-Functional Requirements — Summary</a:t>
            </a:r>
          </a:p>
        </p:txBody>
      </p:sp>
      <p:graphicFrame>
        <p:nvGraphicFramePr>
          <p:cNvPr id="4" name="Table 3"/>
          <p:cNvGraphicFramePr>
            <a:graphicFrameLocks noGrp="1"/>
          </p:cNvGraphicFramePr>
          <p:nvPr/>
        </p:nvGraphicFramePr>
        <p:xfrm>
          <a:off x="640080" y="1417320"/>
          <a:ext cx="10911534" cy="3657600"/>
        </p:xfrm>
        <a:graphic>
          <a:graphicData uri="http://schemas.openxmlformats.org/drawingml/2006/table">
            <a:tbl>
              <a:tblPr firstRow="1" bandRow="1">
                <a:tableStyleId>{5C22544A-7EE6-4342-B048-85BDC9FD1C3A}</a:tableStyleId>
              </a:tblPr>
              <a:tblGrid>
                <a:gridCol w="2500560">
                  <a:extLst>
                    <a:ext uri="{9D8B030D-6E8A-4147-A177-3AD203B41FA5}">
                      <a16:colId xmlns:a16="http://schemas.microsoft.com/office/drawing/2014/main" val="20000"/>
                    </a:ext>
                  </a:extLst>
                </a:gridCol>
                <a:gridCol w="7047033">
                  <a:extLst>
                    <a:ext uri="{9D8B030D-6E8A-4147-A177-3AD203B41FA5}">
                      <a16:colId xmlns:a16="http://schemas.microsoft.com/office/drawing/2014/main" val="20001"/>
                    </a:ext>
                  </a:extLst>
                </a:gridCol>
                <a:gridCol w="1363941">
                  <a:extLst>
                    <a:ext uri="{9D8B030D-6E8A-4147-A177-3AD203B41FA5}">
                      <a16:colId xmlns:a16="http://schemas.microsoft.com/office/drawing/2014/main" val="20002"/>
                    </a:ext>
                  </a:extLst>
                </a:gridCol>
              </a:tblGrid>
              <a:tr h="457200">
                <a:tc>
                  <a:txBody>
                    <a:bodyPr/>
                    <a:lstStyle/>
                    <a:p>
                      <a:r>
                        <a:rPr sz="1500" b="1">
                          <a:solidFill>
                            <a:srgbClr val="FFFFFF"/>
                          </a:solidFill>
                        </a:rPr>
                        <a:t>Category</a:t>
                      </a:r>
                    </a:p>
                  </a:txBody>
                  <a:tcPr>
                    <a:solidFill>
                      <a:srgbClr val="1F3354"/>
                    </a:solidFill>
                  </a:tcPr>
                </a:tc>
                <a:tc>
                  <a:txBody>
                    <a:bodyPr/>
                    <a:lstStyle/>
                    <a:p>
                      <a:r>
                        <a:rPr sz="1500" b="1">
                          <a:solidFill>
                            <a:srgbClr val="FFFFFF"/>
                          </a:solidFill>
                        </a:rPr>
                        <a:t>Requirement</a:t>
                      </a:r>
                    </a:p>
                  </a:txBody>
                  <a:tcPr>
                    <a:solidFill>
                      <a:srgbClr val="1F3354"/>
                    </a:solidFill>
                  </a:tcPr>
                </a:tc>
                <a:tc>
                  <a:txBody>
                    <a:bodyPr/>
                    <a:lstStyle/>
                    <a:p>
                      <a:r>
                        <a:rPr sz="1500" b="1">
                          <a:solidFill>
                            <a:srgbClr val="FFFFFF"/>
                          </a:solidFill>
                        </a:rPr>
                        <a:t>Pri.</a:t>
                      </a:r>
                    </a:p>
                  </a:txBody>
                  <a:tcPr>
                    <a:solidFill>
                      <a:srgbClr val="1F3354"/>
                    </a:solidFill>
                  </a:tcPr>
                </a:tc>
                <a:extLst>
                  <a:ext uri="{0D108BD9-81ED-4DB2-BD59-A6C34878D82A}">
                    <a16:rowId xmlns:a16="http://schemas.microsoft.com/office/drawing/2014/main" val="10000"/>
                  </a:ext>
                </a:extLst>
              </a:tr>
              <a:tr h="457200">
                <a:tc>
                  <a:txBody>
                    <a:bodyPr/>
                    <a:lstStyle/>
                    <a:p>
                      <a:r>
                        <a:rPr sz="1500">
                          <a:solidFill>
                            <a:srgbClr val="222222"/>
                          </a:solidFill>
                        </a:rPr>
                        <a:t>Performance</a:t>
                      </a:r>
                    </a:p>
                  </a:txBody>
                  <a:tcPr>
                    <a:solidFill>
                      <a:srgbClr val="FFFFFF"/>
                    </a:solidFill>
                  </a:tcPr>
                </a:tc>
                <a:tc>
                  <a:txBody>
                    <a:bodyPr/>
                    <a:lstStyle/>
                    <a:p>
                      <a:r>
                        <a:rPr sz="1500">
                          <a:solidFill>
                            <a:srgbClr val="222222"/>
                          </a:solidFill>
                        </a:rPr>
                        <a:t>70–90% faster; CPU-only inference</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1"/>
                  </a:ext>
                </a:extLst>
              </a:tr>
              <a:tr h="457200">
                <a:tc>
                  <a:txBody>
                    <a:bodyPr/>
                    <a:lstStyle/>
                    <a:p>
                      <a:r>
                        <a:rPr sz="1500">
                          <a:solidFill>
                            <a:srgbClr val="222222"/>
                          </a:solidFill>
                        </a:rPr>
                        <a:t>Reliability</a:t>
                      </a:r>
                    </a:p>
                  </a:txBody>
                  <a:tcPr>
                    <a:solidFill>
                      <a:srgbClr val="F2F4F8"/>
                    </a:solidFill>
                  </a:tcPr>
                </a:tc>
                <a:tc>
                  <a:txBody>
                    <a:bodyPr/>
                    <a:lstStyle/>
                    <a:p>
                      <a:r>
                        <a:rPr sz="1500">
                          <a:solidFill>
                            <a:srgbClr val="222222"/>
                          </a:solidFill>
                        </a:rPr>
                        <a:t>Input untouched; output always watertight</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2"/>
                  </a:ext>
                </a:extLst>
              </a:tr>
              <a:tr h="457200">
                <a:tc>
                  <a:txBody>
                    <a:bodyPr/>
                    <a:lstStyle/>
                    <a:p>
                      <a:r>
                        <a:rPr sz="1500">
                          <a:solidFill>
                            <a:srgbClr val="222222"/>
                          </a:solidFill>
                        </a:rPr>
                        <a:t>Portability</a:t>
                      </a:r>
                    </a:p>
                  </a:txBody>
                  <a:tcPr>
                    <a:solidFill>
                      <a:srgbClr val="FFFFFF"/>
                    </a:solidFill>
                  </a:tcPr>
                </a:tc>
                <a:tc>
                  <a:txBody>
                    <a:bodyPr/>
                    <a:lstStyle/>
                    <a:p>
                      <a:r>
                        <a:rPr sz="1500">
                          <a:solidFill>
                            <a:srgbClr val="222222"/>
                          </a:solidFill>
                        </a:rPr>
                        <a:t>No NX; headless, standalone batch execution</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3"/>
                  </a:ext>
                </a:extLst>
              </a:tr>
              <a:tr h="457200">
                <a:tc>
                  <a:txBody>
                    <a:bodyPr/>
                    <a:lstStyle/>
                    <a:p>
                      <a:r>
                        <a:rPr sz="1500">
                          <a:solidFill>
                            <a:srgbClr val="222222"/>
                          </a:solidFill>
                        </a:rPr>
                        <a:t>Security</a:t>
                      </a:r>
                    </a:p>
                  </a:txBody>
                  <a:tcPr>
                    <a:solidFill>
                      <a:srgbClr val="F2F4F8"/>
                    </a:solidFill>
                  </a:tcPr>
                </a:tc>
                <a:tc>
                  <a:txBody>
                    <a:bodyPr/>
                    <a:lstStyle/>
                    <a:p>
                      <a:r>
                        <a:rPr sz="1500">
                          <a:solidFill>
                            <a:srgbClr val="222222"/>
                          </a:solidFill>
                        </a:rPr>
                        <a:t>Zero HP confidential data in the repository</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4"/>
                  </a:ext>
                </a:extLst>
              </a:tr>
              <a:tr h="457200">
                <a:tc>
                  <a:txBody>
                    <a:bodyPr/>
                    <a:lstStyle/>
                    <a:p>
                      <a:r>
                        <a:rPr sz="1500">
                          <a:solidFill>
                            <a:srgbClr val="222222"/>
                          </a:solidFill>
                        </a:rPr>
                        <a:t>Usability</a:t>
                      </a:r>
                    </a:p>
                  </a:txBody>
                  <a:tcPr>
                    <a:solidFill>
                      <a:srgbClr val="FFFFFF"/>
                    </a:solidFill>
                  </a:tcPr>
                </a:tc>
                <a:tc>
                  <a:txBody>
                    <a:bodyPr/>
                    <a:lstStyle/>
                    <a:p>
                      <a:r>
                        <a:rPr sz="1500">
                          <a:solidFill>
                            <a:srgbClr val="222222"/>
                          </a:solidFill>
                        </a:rPr>
                        <a:t>Report readable by a non-AI-expert at a glance</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5"/>
                  </a:ext>
                </a:extLst>
              </a:tr>
              <a:tr h="457200">
                <a:tc>
                  <a:txBody>
                    <a:bodyPr/>
                    <a:lstStyle/>
                    <a:p>
                      <a:r>
                        <a:rPr sz="1500">
                          <a:solidFill>
                            <a:srgbClr val="222222"/>
                          </a:solidFill>
                        </a:rPr>
                        <a:t>Maintainability</a:t>
                      </a:r>
                    </a:p>
                  </a:txBody>
                  <a:tcPr>
                    <a:solidFill>
                      <a:srgbClr val="F2F4F8"/>
                    </a:solidFill>
                  </a:tcPr>
                </a:tc>
                <a:tc>
                  <a:txBody>
                    <a:bodyPr/>
                    <a:lstStyle/>
                    <a:p>
                      <a:r>
                        <a:rPr sz="1500">
                          <a:solidFill>
                            <a:srgbClr val="222222"/>
                          </a:solidFill>
                        </a:rPr>
                        <a:t>Modular by pipeline stage; Git-based workflow</a:t>
                      </a:r>
                    </a:p>
                  </a:txBody>
                  <a:tcPr>
                    <a:solidFill>
                      <a:srgbClr val="F2F4F8"/>
                    </a:solidFill>
                  </a:tcPr>
                </a:tc>
                <a:tc>
                  <a:txBody>
                    <a:bodyPr/>
                    <a:lstStyle/>
                    <a:p>
                      <a:r>
                        <a:rPr sz="1500">
                          <a:solidFill>
                            <a:srgbClr val="222222"/>
                          </a:solidFill>
                        </a:rPr>
                        <a:t>Must</a:t>
                      </a:r>
                    </a:p>
                  </a:txBody>
                  <a:tcPr>
                    <a:solidFill>
                      <a:srgbClr val="F2F4F8"/>
                    </a:solidFill>
                  </a:tcPr>
                </a:tc>
                <a:extLst>
                  <a:ext uri="{0D108BD9-81ED-4DB2-BD59-A6C34878D82A}">
                    <a16:rowId xmlns:a16="http://schemas.microsoft.com/office/drawing/2014/main" val="10006"/>
                  </a:ext>
                </a:extLst>
              </a:tr>
              <a:tr h="457200">
                <a:tc>
                  <a:txBody>
                    <a:bodyPr/>
                    <a:lstStyle/>
                    <a:p>
                      <a:r>
                        <a:rPr sz="1500">
                          <a:solidFill>
                            <a:srgbClr val="222222"/>
                          </a:solidFill>
                        </a:rPr>
                        <a:t>Accuracy</a:t>
                      </a:r>
                    </a:p>
                  </a:txBody>
                  <a:tcPr>
                    <a:solidFill>
                      <a:srgbClr val="FFFFFF"/>
                    </a:solidFill>
                  </a:tcPr>
                </a:tc>
                <a:tc>
                  <a:txBody>
                    <a:bodyPr/>
                    <a:lstStyle/>
                    <a:p>
                      <a:r>
                        <a:rPr sz="1500">
                          <a:solidFill>
                            <a:srgbClr val="222222"/>
                          </a:solidFill>
                        </a:rPr>
                        <a:t>Optimize for defeaturing accuracy, not CAE accuracy</a:t>
                      </a:r>
                    </a:p>
                  </a:txBody>
                  <a:tcPr>
                    <a:solidFill>
                      <a:srgbClr val="FFFFFF"/>
                    </a:solidFill>
                  </a:tcPr>
                </a:tc>
                <a:tc>
                  <a:txBody>
                    <a:bodyPr/>
                    <a:lstStyle/>
                    <a:p>
                      <a:r>
                        <a:rPr sz="1500">
                          <a:solidFill>
                            <a:srgbClr val="222222"/>
                          </a:solidFill>
                        </a:rPr>
                        <a:t>Must</a:t>
                      </a:r>
                    </a:p>
                  </a:txBody>
                  <a:tcP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Full detail: Non-Functional Requirements Document (NFRD) v1.6 · CleanCAD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4. SYSTEM DESIGN (1/5)</a:t>
            </a:r>
          </a:p>
          <a:p>
            <a:r>
              <a:rPr sz="2800" b="1">
                <a:solidFill>
                  <a:srgbClr val="FFFFFF"/>
                </a:solidFill>
              </a:rPr>
              <a:t>Overall System Configuration</a:t>
            </a:r>
          </a:p>
        </p:txBody>
      </p:sp>
      <p:pic>
        <p:nvPicPr>
          <p:cNvPr id="4" name="Picture 3" descr="core_pipeline.png"/>
          <p:cNvPicPr>
            <a:picLocks noChangeAspect="1"/>
          </p:cNvPicPr>
          <p:nvPr/>
        </p:nvPicPr>
        <p:blipFill>
          <a:blip r:embed="rId3"/>
          <a:stretch>
            <a:fillRect/>
          </a:stretch>
        </p:blipFill>
        <p:spPr>
          <a:xfrm>
            <a:off x="777240" y="1371600"/>
            <a:ext cx="10607040" cy="4537019"/>
          </a:xfrm>
          <a:prstGeom prst="rect">
            <a:avLst/>
          </a:prstGeom>
        </p:spPr>
      </p:pic>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Core runtime pipeline (M1–M8). Offline training supplies the model used in M3. · CleanCAD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4. SYSTEM DESIGN (2/5)</a:t>
            </a:r>
          </a:p>
          <a:p>
            <a:r>
              <a:rPr sz="2800" b="1">
                <a:solidFill>
                  <a:srgbClr val="FFFFFF"/>
                </a:solidFill>
              </a:rPr>
              <a:t>Module Structure &amp; Data Flow</a:t>
            </a:r>
          </a:p>
        </p:txBody>
      </p:sp>
      <p:graphicFrame>
        <p:nvGraphicFramePr>
          <p:cNvPr id="4" name="Table 3"/>
          <p:cNvGraphicFramePr>
            <a:graphicFrameLocks noGrp="1"/>
          </p:cNvGraphicFramePr>
          <p:nvPr/>
        </p:nvGraphicFramePr>
        <p:xfrm>
          <a:off x="640080" y="1417320"/>
          <a:ext cx="10911534" cy="4114800"/>
        </p:xfrm>
        <a:graphic>
          <a:graphicData uri="http://schemas.openxmlformats.org/drawingml/2006/table">
            <a:tbl>
              <a:tblPr firstRow="1" bandRow="1">
                <a:tableStyleId>{5C22544A-7EE6-4342-B048-85BDC9FD1C3A}</a:tableStyleId>
              </a:tblPr>
              <a:tblGrid>
                <a:gridCol w="2182307">
                  <a:extLst>
                    <a:ext uri="{9D8B030D-6E8A-4147-A177-3AD203B41FA5}">
                      <a16:colId xmlns:a16="http://schemas.microsoft.com/office/drawing/2014/main" val="20000"/>
                    </a:ext>
                  </a:extLst>
                </a:gridCol>
                <a:gridCol w="4801075">
                  <a:extLst>
                    <a:ext uri="{9D8B030D-6E8A-4147-A177-3AD203B41FA5}">
                      <a16:colId xmlns:a16="http://schemas.microsoft.com/office/drawing/2014/main" val="20001"/>
                    </a:ext>
                  </a:extLst>
                </a:gridCol>
                <a:gridCol w="3928152">
                  <a:extLst>
                    <a:ext uri="{9D8B030D-6E8A-4147-A177-3AD203B41FA5}">
                      <a16:colId xmlns:a16="http://schemas.microsoft.com/office/drawing/2014/main" val="20002"/>
                    </a:ext>
                  </a:extLst>
                </a:gridCol>
              </a:tblGrid>
              <a:tr h="457200">
                <a:tc>
                  <a:txBody>
                    <a:bodyPr/>
                    <a:lstStyle/>
                    <a:p>
                      <a:r>
                        <a:rPr sz="1300" b="1">
                          <a:solidFill>
                            <a:srgbClr val="FFFFFF"/>
                          </a:solidFill>
                        </a:rPr>
                        <a:t>Module</a:t>
                      </a:r>
                    </a:p>
                  </a:txBody>
                  <a:tcPr>
                    <a:solidFill>
                      <a:srgbClr val="1F3354"/>
                    </a:solidFill>
                  </a:tcPr>
                </a:tc>
                <a:tc>
                  <a:txBody>
                    <a:bodyPr/>
                    <a:lstStyle/>
                    <a:p>
                      <a:r>
                        <a:rPr sz="1300" b="1">
                          <a:solidFill>
                            <a:srgbClr val="FFFFFF"/>
                          </a:solidFill>
                        </a:rPr>
                        <a:t>Responsibility</a:t>
                      </a:r>
                    </a:p>
                  </a:txBody>
                  <a:tcPr>
                    <a:solidFill>
                      <a:srgbClr val="1F3354"/>
                    </a:solidFill>
                  </a:tcPr>
                </a:tc>
                <a:tc>
                  <a:txBody>
                    <a:bodyPr/>
                    <a:lstStyle/>
                    <a:p>
                      <a:r>
                        <a:rPr sz="1300" b="1">
                          <a:solidFill>
                            <a:srgbClr val="FFFFFF"/>
                          </a:solidFill>
                        </a:rPr>
                        <a:t>→ Interface</a:t>
                      </a:r>
                    </a:p>
                  </a:txBody>
                  <a:tcPr>
                    <a:solidFill>
                      <a:srgbClr val="1F3354"/>
                    </a:solidFill>
                  </a:tcPr>
                </a:tc>
                <a:extLst>
                  <a:ext uri="{0D108BD9-81ED-4DB2-BD59-A6C34878D82A}">
                    <a16:rowId xmlns:a16="http://schemas.microsoft.com/office/drawing/2014/main" val="10000"/>
                  </a:ext>
                </a:extLst>
              </a:tr>
              <a:tr h="457200">
                <a:tc>
                  <a:txBody>
                    <a:bodyPr/>
                    <a:lstStyle/>
                    <a:p>
                      <a:r>
                        <a:rPr sz="1300">
                          <a:solidFill>
                            <a:srgbClr val="222222"/>
                          </a:solidFill>
                        </a:rPr>
                        <a:t>M1 CAD I/O</a:t>
                      </a:r>
                    </a:p>
                  </a:txBody>
                  <a:tcPr>
                    <a:solidFill>
                      <a:srgbClr val="FFFFFF"/>
                    </a:solidFill>
                  </a:tcPr>
                </a:tc>
                <a:tc>
                  <a:txBody>
                    <a:bodyPr/>
                    <a:lstStyle/>
                    <a:p>
                      <a:r>
                        <a:rPr sz="1300">
                          <a:solidFill>
                            <a:srgbClr val="222222"/>
                          </a:solidFill>
                        </a:rPr>
                        <a:t>Parse STEP → B-rep</a:t>
                      </a:r>
                    </a:p>
                  </a:txBody>
                  <a:tcPr>
                    <a:solidFill>
                      <a:srgbClr val="FFFFFF"/>
                    </a:solidFill>
                  </a:tcPr>
                </a:tc>
                <a:tc>
                  <a:txBody>
                    <a:bodyPr/>
                    <a:lstStyle/>
                    <a:p>
                      <a:r>
                        <a:rPr sz="1300">
                          <a:solidFill>
                            <a:srgbClr val="222222"/>
                          </a:solidFill>
                        </a:rPr>
                        <a:t>In-memory shape → M2</a:t>
                      </a:r>
                    </a:p>
                  </a:txBody>
                  <a:tcPr>
                    <a:solidFill>
                      <a:srgbClr val="FFFFFF"/>
                    </a:solidFill>
                  </a:tcPr>
                </a:tc>
                <a:extLst>
                  <a:ext uri="{0D108BD9-81ED-4DB2-BD59-A6C34878D82A}">
                    <a16:rowId xmlns:a16="http://schemas.microsoft.com/office/drawing/2014/main" val="10001"/>
                  </a:ext>
                </a:extLst>
              </a:tr>
              <a:tr h="457200">
                <a:tc>
                  <a:txBody>
                    <a:bodyPr/>
                    <a:lstStyle/>
                    <a:p>
                      <a:r>
                        <a:rPr sz="1300">
                          <a:solidFill>
                            <a:srgbClr val="222222"/>
                          </a:solidFill>
                        </a:rPr>
                        <a:t>M2 Graph Conversion</a:t>
                      </a:r>
                    </a:p>
                  </a:txBody>
                  <a:tcPr>
                    <a:solidFill>
                      <a:srgbClr val="F2F4F8"/>
                    </a:solidFill>
                  </a:tcPr>
                </a:tc>
                <a:tc>
                  <a:txBody>
                    <a:bodyPr/>
                    <a:lstStyle/>
                    <a:p>
                      <a:r>
                        <a:rPr sz="1300">
                          <a:solidFill>
                            <a:srgbClr val="222222"/>
                          </a:solidFill>
                        </a:rPr>
                        <a:t>B-rep → face-adjacency graph</a:t>
                      </a:r>
                    </a:p>
                  </a:txBody>
                  <a:tcPr>
                    <a:solidFill>
                      <a:srgbClr val="F2F4F8"/>
                    </a:solidFill>
                  </a:tcPr>
                </a:tc>
                <a:tc>
                  <a:txBody>
                    <a:bodyPr/>
                    <a:lstStyle/>
                    <a:p>
                      <a:r>
                        <a:rPr sz="1300">
                          <a:solidFill>
                            <a:srgbClr val="222222"/>
                          </a:solidFill>
                        </a:rPr>
                        <a:t>Graph → M3</a:t>
                      </a:r>
                    </a:p>
                  </a:txBody>
                  <a:tcPr>
                    <a:solidFill>
                      <a:srgbClr val="F2F4F8"/>
                    </a:solidFill>
                  </a:tcPr>
                </a:tc>
                <a:extLst>
                  <a:ext uri="{0D108BD9-81ED-4DB2-BD59-A6C34878D82A}">
                    <a16:rowId xmlns:a16="http://schemas.microsoft.com/office/drawing/2014/main" val="10002"/>
                  </a:ext>
                </a:extLst>
              </a:tr>
              <a:tr h="457200">
                <a:tc>
                  <a:txBody>
                    <a:bodyPr/>
                    <a:lstStyle/>
                    <a:p>
                      <a:r>
                        <a:rPr sz="1300">
                          <a:solidFill>
                            <a:srgbClr val="222222"/>
                          </a:solidFill>
                        </a:rPr>
                        <a:t>M3 Feature Recognition</a:t>
                      </a:r>
                    </a:p>
                  </a:txBody>
                  <a:tcPr>
                    <a:solidFill>
                      <a:srgbClr val="FFFFFF"/>
                    </a:solidFill>
                  </a:tcPr>
                </a:tc>
                <a:tc>
                  <a:txBody>
                    <a:bodyPr/>
                    <a:lstStyle/>
                    <a:p>
                      <a:r>
                        <a:rPr sz="1300">
                          <a:solidFill>
                            <a:srgbClr val="222222"/>
                          </a:solidFill>
                        </a:rPr>
                        <a:t>Classify each face (GNN)</a:t>
                      </a:r>
                    </a:p>
                  </a:txBody>
                  <a:tcPr>
                    <a:solidFill>
                      <a:srgbClr val="FFFFFF"/>
                    </a:solidFill>
                  </a:tcPr>
                </a:tc>
                <a:tc>
                  <a:txBody>
                    <a:bodyPr/>
                    <a:lstStyle/>
                    <a:p>
                      <a:r>
                        <a:rPr sz="1300">
                          <a:solidFill>
                            <a:srgbClr val="222222"/>
                          </a:solidFill>
                        </a:rPr>
                        <a:t>Label + confidence → M4</a:t>
                      </a:r>
                    </a:p>
                  </a:txBody>
                  <a:tcPr>
                    <a:solidFill>
                      <a:srgbClr val="FFFFFF"/>
                    </a:solidFill>
                  </a:tcPr>
                </a:tc>
                <a:extLst>
                  <a:ext uri="{0D108BD9-81ED-4DB2-BD59-A6C34878D82A}">
                    <a16:rowId xmlns:a16="http://schemas.microsoft.com/office/drawing/2014/main" val="10003"/>
                  </a:ext>
                </a:extLst>
              </a:tr>
              <a:tr h="457200">
                <a:tc>
                  <a:txBody>
                    <a:bodyPr/>
                    <a:lstStyle/>
                    <a:p>
                      <a:r>
                        <a:rPr sz="1300">
                          <a:solidFill>
                            <a:srgbClr val="222222"/>
                          </a:solidFill>
                        </a:rPr>
                        <a:t>M4 Decision Logic</a:t>
                      </a:r>
                    </a:p>
                  </a:txBody>
                  <a:tcPr>
                    <a:solidFill>
                      <a:srgbClr val="F2F4F8"/>
                    </a:solidFill>
                  </a:tcPr>
                </a:tc>
                <a:tc>
                  <a:txBody>
                    <a:bodyPr/>
                    <a:lstStyle/>
                    <a:p>
                      <a:r>
                        <a:rPr sz="1300">
                          <a:solidFill>
                            <a:srgbClr val="222222"/>
                          </a:solidFill>
                        </a:rPr>
                        <a:t>Rule → ML → propose action</a:t>
                      </a:r>
                    </a:p>
                  </a:txBody>
                  <a:tcPr>
                    <a:solidFill>
                      <a:srgbClr val="F2F4F8"/>
                    </a:solidFill>
                  </a:tcPr>
                </a:tc>
                <a:tc>
                  <a:txBody>
                    <a:bodyPr/>
                    <a:lstStyle/>
                    <a:p>
                      <a:r>
                        <a:rPr sz="1300">
                          <a:solidFill>
                            <a:srgbClr val="222222"/>
                          </a:solidFill>
                        </a:rPr>
                        <a:t>Removal list → M5</a:t>
                      </a:r>
                    </a:p>
                  </a:txBody>
                  <a:tcPr>
                    <a:solidFill>
                      <a:srgbClr val="F2F4F8"/>
                    </a:solidFill>
                  </a:tcPr>
                </a:tc>
                <a:extLst>
                  <a:ext uri="{0D108BD9-81ED-4DB2-BD59-A6C34878D82A}">
                    <a16:rowId xmlns:a16="http://schemas.microsoft.com/office/drawing/2014/main" val="10004"/>
                  </a:ext>
                </a:extLst>
              </a:tr>
              <a:tr h="457200">
                <a:tc>
                  <a:txBody>
                    <a:bodyPr/>
                    <a:lstStyle/>
                    <a:p>
                      <a:r>
                        <a:rPr sz="1300">
                          <a:solidFill>
                            <a:srgbClr val="222222"/>
                          </a:solidFill>
                        </a:rPr>
                        <a:t>M5 Removal + Healing</a:t>
                      </a:r>
                    </a:p>
                  </a:txBody>
                  <a:tcPr>
                    <a:solidFill>
                      <a:srgbClr val="FFFFFF"/>
                    </a:solidFill>
                  </a:tcPr>
                </a:tc>
                <a:tc>
                  <a:txBody>
                    <a:bodyPr/>
                    <a:lstStyle/>
                    <a:p>
                      <a:r>
                        <a:rPr sz="1300">
                          <a:solidFill>
                            <a:srgbClr val="222222"/>
                          </a:solidFill>
                        </a:rPr>
                        <a:t>Remove features; heal geometry</a:t>
                      </a:r>
                    </a:p>
                  </a:txBody>
                  <a:tcPr>
                    <a:solidFill>
                      <a:srgbClr val="FFFFFF"/>
                    </a:solidFill>
                  </a:tcPr>
                </a:tc>
                <a:tc>
                  <a:txBody>
                    <a:bodyPr/>
                    <a:lstStyle/>
                    <a:p>
                      <a:r>
                        <a:rPr sz="1300">
                          <a:solidFill>
                            <a:srgbClr val="222222"/>
                          </a:solidFill>
                        </a:rPr>
                        <a:t>Healed shape → M6; fails → retrain</a:t>
                      </a:r>
                    </a:p>
                  </a:txBody>
                  <a:tcPr>
                    <a:solidFill>
                      <a:srgbClr val="FFFFFF"/>
                    </a:solidFill>
                  </a:tcPr>
                </a:tc>
                <a:extLst>
                  <a:ext uri="{0D108BD9-81ED-4DB2-BD59-A6C34878D82A}">
                    <a16:rowId xmlns:a16="http://schemas.microsoft.com/office/drawing/2014/main" val="10005"/>
                  </a:ext>
                </a:extLst>
              </a:tr>
              <a:tr h="457200">
                <a:tc>
                  <a:txBody>
                    <a:bodyPr/>
                    <a:lstStyle/>
                    <a:p>
                      <a:r>
                        <a:rPr sz="1300">
                          <a:solidFill>
                            <a:srgbClr val="222222"/>
                          </a:solidFill>
                        </a:rPr>
                        <a:t>M6 Output &amp; Reporting</a:t>
                      </a:r>
                    </a:p>
                  </a:txBody>
                  <a:tcPr>
                    <a:solidFill>
                      <a:srgbClr val="F2F4F8"/>
                    </a:solidFill>
                  </a:tcPr>
                </a:tc>
                <a:tc>
                  <a:txBody>
                    <a:bodyPr/>
                    <a:lstStyle/>
                    <a:p>
                      <a:r>
                        <a:rPr sz="1300">
                          <a:solidFill>
                            <a:srgbClr val="222222"/>
                          </a:solidFill>
                        </a:rPr>
                        <a:t>Export STEP + visual report</a:t>
                      </a:r>
                    </a:p>
                  </a:txBody>
                  <a:tcPr>
                    <a:solidFill>
                      <a:srgbClr val="F2F4F8"/>
                    </a:solidFill>
                  </a:tcPr>
                </a:tc>
                <a:tc>
                  <a:txBody>
                    <a:bodyPr/>
                    <a:lstStyle/>
                    <a:p>
                      <a:r>
                        <a:rPr sz="1300">
                          <a:solidFill>
                            <a:srgbClr val="222222"/>
                          </a:solidFill>
                        </a:rPr>
                        <a:t>→ M7 Engineer Review</a:t>
                      </a:r>
                    </a:p>
                  </a:txBody>
                  <a:tcPr>
                    <a:solidFill>
                      <a:srgbClr val="F2F4F8"/>
                    </a:solidFill>
                  </a:tcPr>
                </a:tc>
                <a:extLst>
                  <a:ext uri="{0D108BD9-81ED-4DB2-BD59-A6C34878D82A}">
                    <a16:rowId xmlns:a16="http://schemas.microsoft.com/office/drawing/2014/main" val="10006"/>
                  </a:ext>
                </a:extLst>
              </a:tr>
              <a:tr h="457200">
                <a:tc>
                  <a:txBody>
                    <a:bodyPr/>
                    <a:lstStyle/>
                    <a:p>
                      <a:r>
                        <a:rPr sz="1300">
                          <a:solidFill>
                            <a:srgbClr val="222222"/>
                          </a:solidFill>
                        </a:rPr>
                        <a:t>M7 Engineer Review</a:t>
                      </a:r>
                    </a:p>
                  </a:txBody>
                  <a:tcPr>
                    <a:solidFill>
                      <a:srgbClr val="FFFFFF"/>
                    </a:solidFill>
                  </a:tcPr>
                </a:tc>
                <a:tc>
                  <a:txBody>
                    <a:bodyPr/>
                    <a:lstStyle/>
                    <a:p>
                      <a:r>
                        <a:rPr sz="1300">
                          <a:solidFill>
                            <a:srgbClr val="222222"/>
                          </a:solidFill>
                        </a:rPr>
                        <a:t>Mandatory human approval</a:t>
                      </a:r>
                    </a:p>
                  </a:txBody>
                  <a:tcPr>
                    <a:solidFill>
                      <a:srgbClr val="FFFFFF"/>
                    </a:solidFill>
                  </a:tcPr>
                </a:tc>
                <a:tc>
                  <a:txBody>
                    <a:bodyPr/>
                    <a:lstStyle/>
                    <a:p>
                      <a:r>
                        <a:rPr sz="1300">
                          <a:solidFill>
                            <a:srgbClr val="222222"/>
                          </a:solidFill>
                        </a:rPr>
                        <a:t>Approve → final; Reject → manual</a:t>
                      </a:r>
                    </a:p>
                  </a:txBody>
                  <a:tcPr>
                    <a:solidFill>
                      <a:srgbClr val="FFFFFF"/>
                    </a:solidFill>
                  </a:tcPr>
                </a:tc>
                <a:extLst>
                  <a:ext uri="{0D108BD9-81ED-4DB2-BD59-A6C34878D82A}">
                    <a16:rowId xmlns:a16="http://schemas.microsoft.com/office/drawing/2014/main" val="10007"/>
                  </a:ext>
                </a:extLst>
              </a:tr>
              <a:tr h="457200">
                <a:tc>
                  <a:txBody>
                    <a:bodyPr/>
                    <a:lstStyle/>
                    <a:p>
                      <a:r>
                        <a:rPr sz="1300">
                          <a:solidFill>
                            <a:srgbClr val="222222"/>
                          </a:solidFill>
                        </a:rPr>
                        <a:t>M8 Validation</a:t>
                      </a:r>
                    </a:p>
                  </a:txBody>
                  <a:tcPr>
                    <a:solidFill>
                      <a:srgbClr val="F2F4F8"/>
                    </a:solidFill>
                  </a:tcPr>
                </a:tc>
                <a:tc>
                  <a:txBody>
                    <a:bodyPr/>
                    <a:lstStyle/>
                    <a:p>
                      <a:r>
                        <a:rPr sz="1300">
                          <a:solidFill>
                            <a:srgbClr val="222222"/>
                          </a:solidFill>
                        </a:rPr>
                        <a:t>Mesh quality + visual check</a:t>
                      </a:r>
                    </a:p>
                  </a:txBody>
                  <a:tcPr>
                    <a:solidFill>
                      <a:srgbClr val="F2F4F8"/>
                    </a:solidFill>
                  </a:tcPr>
                </a:tc>
                <a:tc>
                  <a:txBody>
                    <a:bodyPr/>
                    <a:lstStyle/>
                    <a:p>
                      <a:r>
                        <a:rPr sz="1300">
                          <a:solidFill>
                            <a:srgbClr val="222222"/>
                          </a:solidFill>
                        </a:rPr>
                        <a:t>Metrics → success criteria</a:t>
                      </a:r>
                    </a:p>
                  </a:txBody>
                  <a:tcPr>
                    <a:solidFill>
                      <a:srgbClr val="F2F4F8"/>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Full detail: High-Level Design Document (HLD) · CleanCAD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4. SYSTEM DESIGN (3/5)</a:t>
            </a:r>
          </a:p>
          <a:p>
            <a:r>
              <a:rPr sz="2800" b="1">
                <a:solidFill>
                  <a:srgbClr val="FFFFFF"/>
                </a:solidFill>
              </a:rPr>
              <a:t>Design Alternatives Considered</a:t>
            </a:r>
          </a:p>
        </p:txBody>
      </p:sp>
      <p:graphicFrame>
        <p:nvGraphicFramePr>
          <p:cNvPr id="4" name="Table 3"/>
          <p:cNvGraphicFramePr>
            <a:graphicFrameLocks noGrp="1"/>
          </p:cNvGraphicFramePr>
          <p:nvPr>
            <p:extLst>
              <p:ext uri="{D42A27DB-BD31-4B8C-83A1-F6EECF244321}">
                <p14:modId xmlns:p14="http://schemas.microsoft.com/office/powerpoint/2010/main" val="2451558869"/>
              </p:ext>
            </p:extLst>
          </p:nvPr>
        </p:nvGraphicFramePr>
        <p:xfrm>
          <a:off x="640233" y="1966612"/>
          <a:ext cx="10911534" cy="3201705"/>
        </p:xfrm>
        <a:graphic>
          <a:graphicData uri="http://schemas.openxmlformats.org/drawingml/2006/table">
            <a:tbl>
              <a:tblPr firstRow="1" bandRow="1">
                <a:tableStyleId>{5C22544A-7EE6-4342-B048-85BDC9FD1C3A}</a:tableStyleId>
              </a:tblPr>
              <a:tblGrid>
                <a:gridCol w="2182307">
                  <a:extLst>
                    <a:ext uri="{9D8B030D-6E8A-4147-A177-3AD203B41FA5}">
                      <a16:colId xmlns:a16="http://schemas.microsoft.com/office/drawing/2014/main" val="20000"/>
                    </a:ext>
                  </a:extLst>
                </a:gridCol>
                <a:gridCol w="2836999">
                  <a:extLst>
                    <a:ext uri="{9D8B030D-6E8A-4147-A177-3AD203B41FA5}">
                      <a16:colId xmlns:a16="http://schemas.microsoft.com/office/drawing/2014/main" val="20001"/>
                    </a:ext>
                  </a:extLst>
                </a:gridCol>
                <a:gridCol w="2836999">
                  <a:extLst>
                    <a:ext uri="{9D8B030D-6E8A-4147-A177-3AD203B41FA5}">
                      <a16:colId xmlns:a16="http://schemas.microsoft.com/office/drawing/2014/main" val="20002"/>
                    </a:ext>
                  </a:extLst>
                </a:gridCol>
                <a:gridCol w="3055229">
                  <a:extLst>
                    <a:ext uri="{9D8B030D-6E8A-4147-A177-3AD203B41FA5}">
                      <a16:colId xmlns:a16="http://schemas.microsoft.com/office/drawing/2014/main" val="20003"/>
                    </a:ext>
                  </a:extLst>
                </a:gridCol>
              </a:tblGrid>
              <a:tr h="484632">
                <a:tc>
                  <a:txBody>
                    <a:bodyPr/>
                    <a:lstStyle/>
                    <a:p>
                      <a:r>
                        <a:rPr sz="1300" b="1" dirty="0">
                          <a:solidFill>
                            <a:srgbClr val="FFFFFF"/>
                          </a:solidFill>
                        </a:rPr>
                        <a:t>Decision</a:t>
                      </a:r>
                    </a:p>
                  </a:txBody>
                  <a:tcPr>
                    <a:solidFill>
                      <a:srgbClr val="1F3354"/>
                    </a:solidFill>
                  </a:tcPr>
                </a:tc>
                <a:tc>
                  <a:txBody>
                    <a:bodyPr/>
                    <a:lstStyle/>
                    <a:p>
                      <a:r>
                        <a:rPr sz="1300" b="1" dirty="0">
                          <a:solidFill>
                            <a:srgbClr val="FFFFFF"/>
                          </a:solidFill>
                        </a:rPr>
                        <a:t>Option A</a:t>
                      </a:r>
                    </a:p>
                  </a:txBody>
                  <a:tcPr>
                    <a:solidFill>
                      <a:srgbClr val="1F3354"/>
                    </a:solidFill>
                  </a:tcPr>
                </a:tc>
                <a:tc>
                  <a:txBody>
                    <a:bodyPr/>
                    <a:lstStyle/>
                    <a:p>
                      <a:r>
                        <a:rPr sz="1300" b="1">
                          <a:solidFill>
                            <a:srgbClr val="FFFFFF"/>
                          </a:solidFill>
                        </a:rPr>
                        <a:t>Option B</a:t>
                      </a:r>
                    </a:p>
                  </a:txBody>
                  <a:tcPr>
                    <a:solidFill>
                      <a:srgbClr val="1F3354"/>
                    </a:solidFill>
                  </a:tcPr>
                </a:tc>
                <a:tc>
                  <a:txBody>
                    <a:bodyPr/>
                    <a:lstStyle/>
                    <a:p>
                      <a:r>
                        <a:rPr sz="1300" b="1">
                          <a:solidFill>
                            <a:srgbClr val="FFFFFF"/>
                          </a:solidFill>
                        </a:rPr>
                        <a:t>Option C (chosen)</a:t>
                      </a:r>
                    </a:p>
                  </a:txBody>
                  <a:tcPr>
                    <a:solidFill>
                      <a:srgbClr val="1F3354"/>
                    </a:solidFill>
                  </a:tcPr>
                </a:tc>
                <a:extLst>
                  <a:ext uri="{0D108BD9-81ED-4DB2-BD59-A6C34878D82A}">
                    <a16:rowId xmlns:a16="http://schemas.microsoft.com/office/drawing/2014/main" val="10000"/>
                  </a:ext>
                </a:extLst>
              </a:tr>
              <a:tr h="905691">
                <a:tc>
                  <a:txBody>
                    <a:bodyPr/>
                    <a:lstStyle/>
                    <a:p>
                      <a:r>
                        <a:rPr sz="1300">
                          <a:solidFill>
                            <a:srgbClr val="222222"/>
                          </a:solidFill>
                        </a:rPr>
                        <a:t>CAD toolchain</a:t>
                      </a:r>
                    </a:p>
                  </a:txBody>
                  <a:tcPr>
                    <a:solidFill>
                      <a:srgbClr val="FFFFFF"/>
                    </a:solidFill>
                  </a:tcPr>
                </a:tc>
                <a:tc>
                  <a:txBody>
                    <a:bodyPr/>
                    <a:lstStyle/>
                    <a:p>
                      <a:r>
                        <a:rPr sz="1300">
                          <a:solidFill>
                            <a:srgbClr val="222222"/>
                          </a:solidFill>
                        </a:rPr>
                        <a:t>pythonocc-core</a:t>
                      </a:r>
                      <a:br/>
                      <a:r>
                        <a:rPr sz="1300">
                          <a:solidFill>
                            <a:srgbClr val="222222"/>
                          </a:solidFill>
                        </a:rPr>
                        <a:t>direct OCCT bind</a:t>
                      </a:r>
                    </a:p>
                  </a:txBody>
                  <a:tcPr>
                    <a:solidFill>
                      <a:srgbClr val="FFFFFF"/>
                    </a:solidFill>
                  </a:tcPr>
                </a:tc>
                <a:tc>
                  <a:txBody>
                    <a:bodyPr/>
                    <a:lstStyle/>
                    <a:p>
                      <a:r>
                        <a:rPr sz="1300">
                          <a:solidFill>
                            <a:srgbClr val="222222"/>
                          </a:solidFill>
                        </a:rPr>
                        <a:t>cadquery</a:t>
                      </a:r>
                      <a:br/>
                      <a:r>
                        <a:rPr sz="1300">
                          <a:solidFill>
                            <a:srgbClr val="222222"/>
                          </a:solidFill>
                        </a:rPr>
                        <a:t>STEP-gen only</a:t>
                      </a:r>
                    </a:p>
                  </a:txBody>
                  <a:tcPr>
                    <a:solidFill>
                      <a:srgbClr val="FFFFFF"/>
                    </a:solidFill>
                  </a:tcPr>
                </a:tc>
                <a:tc>
                  <a:txBody>
                    <a:bodyPr/>
                    <a:lstStyle/>
                    <a:p>
                      <a:r>
                        <a:rPr sz="1300">
                          <a:solidFill>
                            <a:srgbClr val="222222"/>
                          </a:solidFill>
                        </a:rPr>
                        <a:t>FreeCAD API</a:t>
                      </a:r>
                      <a:br/>
                      <a:r>
                        <a:rPr sz="1300">
                          <a:solidFill>
                            <a:srgbClr val="222222"/>
                          </a:solidFill>
                        </a:rPr>
                        <a:t>headless, full ops</a:t>
                      </a:r>
                    </a:p>
                  </a:txBody>
                  <a:tcPr>
                    <a:solidFill>
                      <a:srgbClr val="FFFFFF"/>
                    </a:solidFill>
                  </a:tcPr>
                </a:tc>
                <a:extLst>
                  <a:ext uri="{0D108BD9-81ED-4DB2-BD59-A6C34878D82A}">
                    <a16:rowId xmlns:a16="http://schemas.microsoft.com/office/drawing/2014/main" val="10001"/>
                  </a:ext>
                </a:extLst>
              </a:tr>
              <a:tr h="905691">
                <a:tc>
                  <a:txBody>
                    <a:bodyPr/>
                    <a:lstStyle/>
                    <a:p>
                      <a:r>
                        <a:rPr sz="1300">
                          <a:solidFill>
                            <a:srgbClr val="222222"/>
                          </a:solidFill>
                        </a:rPr>
                        <a:t>Decision Logic</a:t>
                      </a:r>
                    </a:p>
                  </a:txBody>
                  <a:tcPr>
                    <a:solidFill>
                      <a:srgbClr val="F2F4F8"/>
                    </a:solidFill>
                  </a:tcPr>
                </a:tc>
                <a:tc>
                  <a:txBody>
                    <a:bodyPr/>
                    <a:lstStyle/>
                    <a:p>
                      <a:r>
                        <a:rPr sz="1300">
                          <a:solidFill>
                            <a:srgbClr val="222222"/>
                          </a:solidFill>
                        </a:rPr>
                        <a:t>Rule-only</a:t>
                      </a:r>
                      <a:br/>
                      <a:r>
                        <a:rPr sz="1300">
                          <a:solidFill>
                            <a:srgbClr val="222222"/>
                          </a:solidFill>
                        </a:rPr>
                        <a:t>fast, brittle</a:t>
                      </a:r>
                    </a:p>
                  </a:txBody>
                  <a:tcPr>
                    <a:solidFill>
                      <a:srgbClr val="F2F4F8"/>
                    </a:solidFill>
                  </a:tcPr>
                </a:tc>
                <a:tc>
                  <a:txBody>
                    <a:bodyPr/>
                    <a:lstStyle/>
                    <a:p>
                      <a:r>
                        <a:rPr sz="1300">
                          <a:solidFill>
                            <a:srgbClr val="222222"/>
                          </a:solidFill>
                        </a:rPr>
                        <a:t>ML-only from day 1</a:t>
                      </a:r>
                      <a:br/>
                      <a:r>
                        <a:rPr sz="1300">
                          <a:solidFill>
                            <a:srgbClr val="222222"/>
                          </a:solidFill>
                        </a:rPr>
                        <a:t>slow to bootstrap</a:t>
                      </a:r>
                    </a:p>
                  </a:txBody>
                  <a:tcPr>
                    <a:solidFill>
                      <a:srgbClr val="F2F4F8"/>
                    </a:solidFill>
                  </a:tcPr>
                </a:tc>
                <a:tc>
                  <a:txBody>
                    <a:bodyPr/>
                    <a:lstStyle/>
                    <a:p>
                      <a:r>
                        <a:rPr sz="1300">
                          <a:solidFill>
                            <a:srgbClr val="222222"/>
                          </a:solidFill>
                        </a:rPr>
                        <a:t>Staged rule → ML</a:t>
                      </a:r>
                      <a:br/>
                      <a:r>
                        <a:rPr sz="1300">
                          <a:solidFill>
                            <a:srgbClr val="222222"/>
                          </a:solidFill>
                        </a:rPr>
                        <a:t>fast MVP, improves</a:t>
                      </a:r>
                    </a:p>
                  </a:txBody>
                  <a:tcPr>
                    <a:solidFill>
                      <a:srgbClr val="F2F4F8"/>
                    </a:solidFill>
                  </a:tcPr>
                </a:tc>
                <a:extLst>
                  <a:ext uri="{0D108BD9-81ED-4DB2-BD59-A6C34878D82A}">
                    <a16:rowId xmlns:a16="http://schemas.microsoft.com/office/drawing/2014/main" val="10002"/>
                  </a:ext>
                </a:extLst>
              </a:tr>
              <a:tr h="905691">
                <a:tc>
                  <a:txBody>
                    <a:bodyPr/>
                    <a:lstStyle/>
                    <a:p>
                      <a:r>
                        <a:rPr sz="1300">
                          <a:solidFill>
                            <a:srgbClr val="222222"/>
                          </a:solidFill>
                        </a:rPr>
                        <a:t>Graph conversion</a:t>
                      </a:r>
                    </a:p>
                  </a:txBody>
                  <a:tcPr>
                    <a:solidFill>
                      <a:srgbClr val="FFFFFF"/>
                    </a:solidFill>
                  </a:tcPr>
                </a:tc>
                <a:tc>
                  <a:txBody>
                    <a:bodyPr/>
                    <a:lstStyle/>
                    <a:p>
                      <a:r>
                        <a:rPr sz="1300">
                          <a:solidFill>
                            <a:srgbClr val="222222"/>
                          </a:solidFill>
                        </a:rPr>
                        <a:t>occwl</a:t>
                      </a:r>
                      <a:br/>
                      <a:r>
                        <a:rPr sz="1300">
                          <a:solidFill>
                            <a:srgbClr val="222222"/>
                          </a:solidFill>
                        </a:rPr>
                        <a:t>built on pythonocc</a:t>
                      </a:r>
                    </a:p>
                  </a:txBody>
                  <a:tcPr>
                    <a:solidFill>
                      <a:srgbClr val="FFFFFF"/>
                    </a:solidFill>
                  </a:tcPr>
                </a:tc>
                <a:tc>
                  <a:txBody>
                    <a:bodyPr/>
                    <a:lstStyle/>
                    <a:p>
                      <a:r>
                        <a:rPr sz="1300">
                          <a:solidFill>
                            <a:srgbClr val="222222"/>
                          </a:solidFill>
                        </a:rPr>
                        <a:t>Hand-written</a:t>
                      </a:r>
                      <a:br/>
                      <a:r>
                        <a:rPr sz="1300">
                          <a:solidFill>
                            <a:srgbClr val="222222"/>
                          </a:solidFill>
                        </a:rPr>
                        <a:t>via FreeCAD API</a:t>
                      </a:r>
                    </a:p>
                  </a:txBody>
                  <a:tcPr>
                    <a:solidFill>
                      <a:srgbClr val="FFFFFF"/>
                    </a:solidFill>
                  </a:tcPr>
                </a:tc>
                <a:tc>
                  <a:txBody>
                    <a:bodyPr/>
                    <a:lstStyle/>
                    <a:p>
                      <a:r>
                        <a:rPr sz="1300" dirty="0">
                          <a:solidFill>
                            <a:srgbClr val="222222"/>
                          </a:solidFill>
                        </a:rPr>
                        <a:t>—</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See docs/step_library_comparison.md for the full comparison &amp; mentor Q&amp;A · CleanCAD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4. SYSTEM DESIGN (4/5)</a:t>
            </a:r>
          </a:p>
          <a:p>
            <a:r>
              <a:rPr sz="2800" b="1">
                <a:solidFill>
                  <a:srgbClr val="FFFFFF"/>
                </a:solidFill>
              </a:rPr>
              <a:t>Final Design Choice &amp; Trade-offs</a:t>
            </a:r>
          </a:p>
        </p:txBody>
      </p:sp>
      <p:sp>
        <p:nvSpPr>
          <p:cNvPr id="4" name="TextBox 3"/>
          <p:cNvSpPr txBox="1"/>
          <p:nvPr/>
        </p:nvSpPr>
        <p:spPr>
          <a:xfrm>
            <a:off x="640080" y="1371600"/>
            <a:ext cx="10911535" cy="4937760"/>
          </a:xfrm>
          <a:prstGeom prst="rect">
            <a:avLst/>
          </a:prstGeom>
          <a:noFill/>
        </p:spPr>
        <p:txBody>
          <a:bodyPr wrap="square">
            <a:spAutoFit/>
          </a:bodyPr>
          <a:lstStyle/>
          <a:p>
            <a:pPr>
              <a:spcAft>
                <a:spcPts val="1600"/>
              </a:spcAft>
            </a:pPr>
            <a:r>
              <a:rPr sz="2000" b="1">
                <a:solidFill>
                  <a:srgbClr val="1F3354"/>
                </a:solidFill>
              </a:rPr>
              <a:t>▪  Toolchain → FreeCAD headless API</a:t>
            </a:r>
          </a:p>
          <a:p>
            <a:pPr lvl="1">
              <a:spcAft>
                <a:spcPts val="1600"/>
              </a:spcAft>
            </a:pPr>
            <a:r>
              <a:rPr sz="1800" b="0">
                <a:solidFill>
                  <a:srgbClr val="333333"/>
                </a:solidFill>
              </a:rPr>
              <a:t>–  mentor-confirmed 2026-09-18; resolves a 3-way naming conflict</a:t>
            </a:r>
          </a:p>
          <a:p>
            <a:pPr>
              <a:spcAft>
                <a:spcPts val="1600"/>
              </a:spcAft>
            </a:pPr>
            <a:r>
              <a:rPr sz="2000" b="1">
                <a:solidFill>
                  <a:srgbClr val="1F3354"/>
                </a:solidFill>
              </a:rPr>
              <a:t>▪  Decision Logic → staged (rule, then ML)</a:t>
            </a:r>
          </a:p>
          <a:p>
            <a:pPr lvl="1">
              <a:spcAft>
                <a:spcPts val="1600"/>
              </a:spcAft>
            </a:pPr>
            <a:r>
              <a:rPr sz="1800" b="0">
                <a:solidFill>
                  <a:srgbClr val="333333"/>
                </a:solidFill>
              </a:rPr>
              <a:t>–  not a single model — lower risk, earlier demo</a:t>
            </a:r>
          </a:p>
          <a:p>
            <a:pPr>
              <a:spcAft>
                <a:spcPts val="1600"/>
              </a:spcAft>
            </a:pPr>
            <a:r>
              <a:rPr sz="2000" b="1">
                <a:solidFill>
                  <a:srgbClr val="1F3354"/>
                </a:solidFill>
              </a:rPr>
              <a:t>▪  Graph conversion → built in-house</a:t>
            </a:r>
          </a:p>
          <a:p>
            <a:pPr lvl="1">
              <a:spcAft>
                <a:spcPts val="1600"/>
              </a:spcAft>
            </a:pPr>
            <a:r>
              <a:rPr sz="1800" b="0">
                <a:solidFill>
                  <a:srgbClr val="333333"/>
                </a:solidFill>
              </a:rPr>
              <a:t>–  occwl is incompatible with the confirmed toolchain</a:t>
            </a:r>
          </a:p>
        </p:txBody>
      </p:sp>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4. SYSTEM DESIGN (5/5)</a:t>
            </a:r>
          </a:p>
          <a:p>
            <a:r>
              <a:rPr sz="2800" b="1">
                <a:solidFill>
                  <a:srgbClr val="FFFFFF"/>
                </a:solidFill>
              </a:rPr>
              <a:t>Proof of Concept — The Mechanism Already Works</a:t>
            </a:r>
          </a:p>
        </p:txBody>
      </p:sp>
      <p:sp>
        <p:nvSpPr>
          <p:cNvPr id="4" name="TextBox 3"/>
          <p:cNvSpPr txBox="1"/>
          <p:nvPr/>
        </p:nvSpPr>
        <p:spPr>
          <a:xfrm>
            <a:off x="640080" y="1371600"/>
            <a:ext cx="3657600" cy="4937760"/>
          </a:xfrm>
          <a:prstGeom prst="rect">
            <a:avLst/>
          </a:prstGeom>
          <a:noFill/>
        </p:spPr>
        <p:txBody>
          <a:bodyPr wrap="square">
            <a:spAutoFit/>
          </a:bodyPr>
          <a:lstStyle/>
          <a:p>
            <a:pPr>
              <a:spcAft>
                <a:spcPts val="1000"/>
              </a:spcAft>
            </a:pPr>
            <a:r>
              <a:rPr sz="1500" b="1">
                <a:solidFill>
                  <a:srgbClr val="1F3354"/>
                </a:solidFill>
              </a:rPr>
              <a:t>▪  9 self-authored test shapes — 9/9 pass</a:t>
            </a:r>
          </a:p>
          <a:p>
            <a:pPr>
              <a:spcAft>
                <a:spcPts val="1000"/>
              </a:spcAft>
            </a:pPr>
            <a:r>
              <a:rPr sz="1500" b="1">
                <a:solidFill>
                  <a:srgbClr val="1F3354"/>
                </a:solidFill>
              </a:rPr>
              <a:t>▪  Feature-group removal + automatic healing</a:t>
            </a:r>
          </a:p>
          <a:p>
            <a:pPr>
              <a:spcAft>
                <a:spcPts val="1000"/>
              </a:spcAft>
            </a:pPr>
            <a:r>
              <a:rPr sz="1500" b="1">
                <a:solidFill>
                  <a:srgbClr val="1F3354"/>
                </a:solidFill>
              </a:rPr>
              <a:t>▪  Silent-failure detection built and verified</a:t>
            </a:r>
          </a:p>
          <a:p>
            <a:pPr>
              <a:spcAft>
                <a:spcPts val="1000"/>
              </a:spcAft>
            </a:pPr>
            <a:r>
              <a:rPr sz="1500" b="1">
                <a:solidFill>
                  <a:srgbClr val="1F3354"/>
                </a:solidFill>
              </a:rPr>
              <a:t>▪  Red-highlight STEP export validated (GUI mode)</a:t>
            </a:r>
          </a:p>
        </p:txBody>
      </p:sp>
      <p:pic>
        <p:nvPicPr>
          <p:cNvPr id="5" name="Picture 4" descr="near_edge_00_highlight.png"/>
          <p:cNvPicPr>
            <a:picLocks noChangeAspect="1"/>
          </p:cNvPicPr>
          <p:nvPr/>
        </p:nvPicPr>
        <p:blipFill>
          <a:blip r:embed="rId3"/>
          <a:stretch>
            <a:fillRect/>
          </a:stretch>
        </p:blipFill>
        <p:spPr>
          <a:xfrm>
            <a:off x="4847821" y="1417320"/>
            <a:ext cx="3105958" cy="1965959"/>
          </a:xfrm>
          <a:prstGeom prst="rect">
            <a:avLst/>
          </a:prstGeom>
        </p:spPr>
      </p:pic>
      <p:pic>
        <p:nvPicPr>
          <p:cNvPr id="6" name="Picture 5" descr="near_edge_05_final.png"/>
          <p:cNvPicPr>
            <a:picLocks noChangeAspect="1"/>
          </p:cNvPicPr>
          <p:nvPr/>
        </p:nvPicPr>
        <p:blipFill>
          <a:blip r:embed="rId4"/>
          <a:stretch>
            <a:fillRect/>
          </a:stretch>
        </p:blipFill>
        <p:spPr>
          <a:xfrm>
            <a:off x="8716813" y="1417320"/>
            <a:ext cx="3140373" cy="1965959"/>
          </a:xfrm>
          <a:prstGeom prst="rect">
            <a:avLst/>
          </a:prstGeom>
        </p:spPr>
      </p:pic>
      <p:sp>
        <p:nvSpPr>
          <p:cNvPr id="7" name="TextBox 6"/>
          <p:cNvSpPr txBox="1"/>
          <p:nvPr/>
        </p:nvSpPr>
        <p:spPr>
          <a:xfrm>
            <a:off x="4572000" y="3364992"/>
            <a:ext cx="7162495" cy="320040"/>
          </a:xfrm>
          <a:prstGeom prst="rect">
            <a:avLst/>
          </a:prstGeom>
          <a:noFill/>
        </p:spPr>
        <p:txBody>
          <a:bodyPr wrap="none">
            <a:spAutoFit/>
          </a:bodyPr>
          <a:lstStyle/>
          <a:p>
            <a:pPr algn="ctr"/>
            <a:r>
              <a:rPr sz="1200" i="1">
                <a:solidFill>
                  <a:srgbClr val="555555"/>
                </a:solidFill>
              </a:rPr>
              <a:t>Near-edge features — before (red = selected) → after</a:t>
            </a:r>
          </a:p>
        </p:txBody>
      </p:sp>
      <p:pic>
        <p:nvPicPr>
          <p:cNvPr id="8" name="Picture 7" descr="ribbed_00_highlight.png"/>
          <p:cNvPicPr>
            <a:picLocks noChangeAspect="1"/>
          </p:cNvPicPr>
          <p:nvPr/>
        </p:nvPicPr>
        <p:blipFill>
          <a:blip r:embed="rId5"/>
          <a:stretch>
            <a:fillRect/>
          </a:stretch>
        </p:blipFill>
        <p:spPr>
          <a:xfrm>
            <a:off x="4806428" y="3749039"/>
            <a:ext cx="3188743" cy="1965960"/>
          </a:xfrm>
          <a:prstGeom prst="rect">
            <a:avLst/>
          </a:prstGeom>
        </p:spPr>
      </p:pic>
      <p:pic>
        <p:nvPicPr>
          <p:cNvPr id="9" name="Picture 8" descr="ribbed_04_final.png"/>
          <p:cNvPicPr>
            <a:picLocks noChangeAspect="1"/>
          </p:cNvPicPr>
          <p:nvPr/>
        </p:nvPicPr>
        <p:blipFill>
          <a:blip r:embed="rId6"/>
          <a:stretch>
            <a:fillRect/>
          </a:stretch>
        </p:blipFill>
        <p:spPr>
          <a:xfrm>
            <a:off x="8692628" y="3749039"/>
            <a:ext cx="3188743" cy="1965960"/>
          </a:xfrm>
          <a:prstGeom prst="rect">
            <a:avLst/>
          </a:prstGeom>
        </p:spPr>
      </p:pic>
      <p:sp>
        <p:nvSpPr>
          <p:cNvPr id="10" name="TextBox 9"/>
          <p:cNvSpPr txBox="1"/>
          <p:nvPr/>
        </p:nvSpPr>
        <p:spPr>
          <a:xfrm>
            <a:off x="4572000" y="5696712"/>
            <a:ext cx="7162495" cy="320040"/>
          </a:xfrm>
          <a:prstGeom prst="rect">
            <a:avLst/>
          </a:prstGeom>
          <a:noFill/>
        </p:spPr>
        <p:txBody>
          <a:bodyPr wrap="none">
            <a:spAutoFit/>
          </a:bodyPr>
          <a:lstStyle/>
          <a:p>
            <a:pPr algn="ctr"/>
            <a:r>
              <a:rPr sz="1200" i="1">
                <a:solidFill>
                  <a:srgbClr val="555555"/>
                </a:solidFill>
              </a:rPr>
              <a:t>Rib structure — before (red = selected) → after</a:t>
            </a:r>
          </a:p>
        </p:txBody>
      </p:sp>
      <p:sp>
        <p:nvSpPr>
          <p:cNvPr id="11" name="TextBox 10"/>
          <p:cNvSpPr txBox="1"/>
          <p:nvPr/>
        </p:nvSpPr>
        <p:spPr>
          <a:xfrm>
            <a:off x="502920" y="6492240"/>
            <a:ext cx="10820095" cy="274320"/>
          </a:xfrm>
          <a:prstGeom prst="rect">
            <a:avLst/>
          </a:prstGeom>
          <a:noFill/>
        </p:spPr>
        <p:txBody>
          <a:bodyPr wrap="none">
            <a:spAutoFit/>
          </a:bodyPr>
          <a:lstStyle/>
          <a:p>
            <a:r>
              <a:rPr sz="1000">
                <a:solidFill>
                  <a:srgbClr val="555555"/>
                </a:solidFill>
              </a:rPr>
              <a:t>Live screenshots from our own FreeCAD prototype (src/) · CleanCAD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5. DEVELOPMENT STRATEGY (1/2)</a:t>
            </a:r>
          </a:p>
          <a:p>
            <a:r>
              <a:rPr sz="2800" b="1">
                <a:solidFill>
                  <a:srgbClr val="FFFFFF"/>
                </a:solidFill>
              </a:rPr>
              <a:t>Approach &amp; Testing Strategy</a:t>
            </a:r>
          </a:p>
        </p:txBody>
      </p:sp>
      <p:sp>
        <p:nvSpPr>
          <p:cNvPr id="4" name="TextBox 3"/>
          <p:cNvSpPr txBox="1"/>
          <p:nvPr/>
        </p:nvSpPr>
        <p:spPr>
          <a:xfrm>
            <a:off x="640080" y="1371600"/>
            <a:ext cx="10911535" cy="4937760"/>
          </a:xfrm>
          <a:prstGeom prst="rect">
            <a:avLst/>
          </a:prstGeom>
          <a:noFill/>
        </p:spPr>
        <p:txBody>
          <a:bodyPr wrap="square">
            <a:spAutoFit/>
          </a:bodyPr>
          <a:lstStyle/>
          <a:p>
            <a:pPr>
              <a:spcAft>
                <a:spcPts val="1000"/>
              </a:spcAft>
            </a:pPr>
            <a:r>
              <a:rPr sz="1700" b="1">
                <a:solidFill>
                  <a:srgbClr val="1F3354"/>
                </a:solidFill>
              </a:rPr>
              <a:t>▪  Phase-based:</a:t>
            </a:r>
          </a:p>
          <a:p>
            <a:pPr lvl="1">
              <a:spcAft>
                <a:spcPts val="1000"/>
              </a:spcAft>
            </a:pPr>
            <a:r>
              <a:rPr sz="1500" b="0">
                <a:solidFill>
                  <a:srgbClr val="333333"/>
                </a:solidFill>
              </a:rPr>
              <a:t>–  mechanism → Stage 1 rules → data scale-up → Stage 2 ML → integration → validation</a:t>
            </a:r>
          </a:p>
          <a:p>
            <a:pPr>
              <a:spcAft>
                <a:spcPts val="1000"/>
              </a:spcAft>
            </a:pPr>
            <a:r>
              <a:rPr sz="1700" b="1">
                <a:solidFill>
                  <a:srgbClr val="1F3354"/>
                </a:solidFill>
              </a:rPr>
              <a:t>▪  Parallel by role:</a:t>
            </a:r>
          </a:p>
          <a:p>
            <a:pPr lvl="1">
              <a:spcAft>
                <a:spcPts val="1000"/>
              </a:spcAft>
            </a:pPr>
            <a:r>
              <a:rPr sz="1500" b="0">
                <a:solidFill>
                  <a:srgbClr val="333333"/>
                </a:solidFill>
              </a:rPr>
              <a:t>–  CAD (Junoh) — shared mechanism</a:t>
            </a:r>
          </a:p>
          <a:p>
            <a:pPr lvl="1">
              <a:spcAft>
                <a:spcPts val="1000"/>
              </a:spcAft>
            </a:pPr>
            <a:r>
              <a:rPr sz="1500" b="0">
                <a:solidFill>
                  <a:srgbClr val="333333"/>
                </a:solidFill>
              </a:rPr>
              <a:t>–  ML/Graph (Hemanth) — graph + GNN, CPU-inference constraint</a:t>
            </a:r>
          </a:p>
          <a:p>
            <a:pPr lvl="1">
              <a:spcAft>
                <a:spcPts val="1000"/>
              </a:spcAft>
            </a:pPr>
            <a:r>
              <a:rPr sz="1500" b="0">
                <a:solidFill>
                  <a:srgbClr val="333333"/>
                </a:solidFill>
              </a:rPr>
              <a:t>–  Data (Aneela) — test shapes, labeling, error analysis</a:t>
            </a:r>
          </a:p>
          <a:p>
            <a:pPr lvl="1">
              <a:spcAft>
                <a:spcPts val="1000"/>
              </a:spcAft>
            </a:pPr>
            <a:r>
              <a:rPr sz="1500" b="0">
                <a:solidFill>
                  <a:srgbClr val="333333"/>
                </a:solidFill>
              </a:rPr>
              <a:t>–  Integration (Elias) — module contracts, automated tests</a:t>
            </a:r>
          </a:p>
          <a:p>
            <a:pPr>
              <a:spcAft>
                <a:spcPts val="1000"/>
              </a:spcAft>
            </a:pPr>
            <a:r>
              <a:rPr sz="1700" b="1">
                <a:solidFill>
                  <a:srgbClr val="1F3354"/>
                </a:solidFill>
              </a:rPr>
              <a:t>▪  Testing: headless checks vs. expected results</a:t>
            </a:r>
          </a:p>
          <a:p>
            <a:pPr lvl="1">
              <a:spcAft>
                <a:spcPts val="1000"/>
              </a:spcAft>
            </a:pPr>
            <a:r>
              <a:rPr sz="1500" b="0">
                <a:solidFill>
                  <a:srgbClr val="333333"/>
                </a:solidFill>
              </a:rPr>
              <a:t>–  + a live visual demo mode for review</a:t>
            </a:r>
          </a:p>
        </p:txBody>
      </p:sp>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5. DEVELOPMENT STRATEGY (2/2)</a:t>
            </a:r>
          </a:p>
          <a:p>
            <a:r>
              <a:rPr sz="2800" b="1">
                <a:solidFill>
                  <a:srgbClr val="FFFFFF"/>
                </a:solidFill>
              </a:rPr>
              <a:t>15-Week Schedule &amp; Milestones</a:t>
            </a:r>
          </a:p>
        </p:txBody>
      </p:sp>
      <p:cxnSp>
        <p:nvCxnSpPr>
          <p:cNvPr id="4" name="Connector 3"/>
          <p:cNvCxnSpPr/>
          <p:nvPr/>
        </p:nvCxnSpPr>
        <p:spPr>
          <a:xfrm>
            <a:off x="822960" y="2286000"/>
            <a:ext cx="10545775" cy="0"/>
          </a:xfrm>
          <a:prstGeom prst="line">
            <a:avLst/>
          </a:prstGeom>
          <a:ln w="2540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740664" y="2203704"/>
            <a:ext cx="164592" cy="164592"/>
          </a:xfrm>
          <a:prstGeom prst="ellipse">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 y="1600200"/>
            <a:ext cx="1371600" cy="502920"/>
          </a:xfrm>
          <a:prstGeom prst="rect">
            <a:avLst/>
          </a:prstGeom>
          <a:noFill/>
        </p:spPr>
        <p:txBody>
          <a:bodyPr wrap="square">
            <a:spAutoFit/>
          </a:bodyPr>
          <a:lstStyle/>
          <a:p>
            <a:pPr algn="ctr"/>
            <a:r>
              <a:rPr sz="1300" b="1">
                <a:solidFill>
                  <a:srgbClr val="1F3354"/>
                </a:solidFill>
              </a:rPr>
              <a:t>W1–3</a:t>
            </a:r>
          </a:p>
          <a:p>
            <a:pPr algn="ctr"/>
            <a:r>
              <a:rPr sz="1000">
                <a:solidFill>
                  <a:srgbClr val="555555"/>
                </a:solidFill>
              </a:rPr>
              <a:t>Definition</a:t>
            </a:r>
          </a:p>
        </p:txBody>
      </p:sp>
      <p:sp>
        <p:nvSpPr>
          <p:cNvPr id="7" name="TextBox 6"/>
          <p:cNvSpPr txBox="1"/>
          <p:nvPr/>
        </p:nvSpPr>
        <p:spPr>
          <a:xfrm>
            <a:off x="137160" y="2468880"/>
            <a:ext cx="1645920" cy="1463040"/>
          </a:xfrm>
          <a:prstGeom prst="rect">
            <a:avLst/>
          </a:prstGeom>
          <a:noFill/>
        </p:spPr>
        <p:txBody>
          <a:bodyPr wrap="square">
            <a:spAutoFit/>
          </a:bodyPr>
          <a:lstStyle/>
          <a:p>
            <a:pPr algn="ctr"/>
            <a:r>
              <a:rPr sz="1100">
                <a:solidFill>
                  <a:srgbClr val="222222"/>
                </a:solidFill>
              </a:rPr>
              <a:t>Toolchain + mechanism validated</a:t>
            </a:r>
          </a:p>
        </p:txBody>
      </p:sp>
      <p:sp>
        <p:nvSpPr>
          <p:cNvPr id="8" name="Oval 7"/>
          <p:cNvSpPr/>
          <p:nvPr/>
        </p:nvSpPr>
        <p:spPr>
          <a:xfrm>
            <a:off x="2273329" y="2203704"/>
            <a:ext cx="164592" cy="164592"/>
          </a:xfrm>
          <a:prstGeom prst="ellipse">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69825" y="1600200"/>
            <a:ext cx="1371600" cy="502920"/>
          </a:xfrm>
          <a:prstGeom prst="rect">
            <a:avLst/>
          </a:prstGeom>
          <a:noFill/>
        </p:spPr>
        <p:txBody>
          <a:bodyPr wrap="square">
            <a:spAutoFit/>
          </a:bodyPr>
          <a:lstStyle/>
          <a:p>
            <a:pPr algn="ctr"/>
            <a:r>
              <a:rPr sz="1300" b="1">
                <a:solidFill>
                  <a:srgbClr val="1F3354"/>
                </a:solidFill>
              </a:rPr>
              <a:t>W4</a:t>
            </a:r>
          </a:p>
          <a:p>
            <a:pPr algn="ctr"/>
            <a:r>
              <a:rPr sz="1000">
                <a:solidFill>
                  <a:srgbClr val="555555"/>
                </a:solidFill>
              </a:rPr>
              <a:t>Proposal</a:t>
            </a:r>
          </a:p>
        </p:txBody>
      </p:sp>
      <p:sp>
        <p:nvSpPr>
          <p:cNvPr id="10" name="TextBox 9"/>
          <p:cNvSpPr txBox="1"/>
          <p:nvPr/>
        </p:nvSpPr>
        <p:spPr>
          <a:xfrm>
            <a:off x="1532665" y="2468880"/>
            <a:ext cx="1645920" cy="1463040"/>
          </a:xfrm>
          <a:prstGeom prst="rect">
            <a:avLst/>
          </a:prstGeom>
          <a:noFill/>
        </p:spPr>
        <p:txBody>
          <a:bodyPr wrap="square">
            <a:spAutoFit/>
          </a:bodyPr>
          <a:lstStyle/>
          <a:p>
            <a:pPr algn="ctr"/>
            <a:r>
              <a:rPr sz="1100">
                <a:solidFill>
                  <a:srgbClr val="222222"/>
                </a:solidFill>
              </a:rPr>
              <a:t>Oct 1 — this presentation</a:t>
            </a:r>
          </a:p>
        </p:txBody>
      </p:sp>
      <p:sp>
        <p:nvSpPr>
          <p:cNvPr id="11" name="Oval 10"/>
          <p:cNvSpPr/>
          <p:nvPr/>
        </p:nvSpPr>
        <p:spPr>
          <a:xfrm>
            <a:off x="3805994" y="2203704"/>
            <a:ext cx="164592" cy="164592"/>
          </a:xfrm>
          <a:prstGeom prst="ellipse">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2490" y="1600200"/>
            <a:ext cx="1371600" cy="502920"/>
          </a:xfrm>
          <a:prstGeom prst="rect">
            <a:avLst/>
          </a:prstGeom>
          <a:noFill/>
        </p:spPr>
        <p:txBody>
          <a:bodyPr wrap="square">
            <a:spAutoFit/>
          </a:bodyPr>
          <a:lstStyle/>
          <a:p>
            <a:pPr algn="ctr"/>
            <a:r>
              <a:rPr sz="1300" b="1">
                <a:solidFill>
                  <a:srgbClr val="1F3354"/>
                </a:solidFill>
              </a:rPr>
              <a:t>W5–6</a:t>
            </a:r>
          </a:p>
          <a:p>
            <a:pPr algn="ctr"/>
            <a:r>
              <a:rPr sz="1000">
                <a:solidFill>
                  <a:srgbClr val="555555"/>
                </a:solidFill>
              </a:rPr>
              <a:t>HLD</a:t>
            </a:r>
          </a:p>
        </p:txBody>
      </p:sp>
      <p:sp>
        <p:nvSpPr>
          <p:cNvPr id="13" name="TextBox 12"/>
          <p:cNvSpPr txBox="1"/>
          <p:nvPr/>
        </p:nvSpPr>
        <p:spPr>
          <a:xfrm>
            <a:off x="3065330" y="2468880"/>
            <a:ext cx="1645920" cy="1463040"/>
          </a:xfrm>
          <a:prstGeom prst="rect">
            <a:avLst/>
          </a:prstGeom>
          <a:noFill/>
        </p:spPr>
        <p:txBody>
          <a:bodyPr wrap="square">
            <a:spAutoFit/>
          </a:bodyPr>
          <a:lstStyle/>
          <a:p>
            <a:pPr algn="ctr"/>
            <a:r>
              <a:rPr sz="1100">
                <a:solidFill>
                  <a:srgbClr val="222222"/>
                </a:solidFill>
              </a:rPr>
              <a:t>Oct 15 — module contracts final</a:t>
            </a:r>
          </a:p>
        </p:txBody>
      </p:sp>
      <p:sp>
        <p:nvSpPr>
          <p:cNvPr id="14" name="Oval 13"/>
          <p:cNvSpPr/>
          <p:nvPr/>
        </p:nvSpPr>
        <p:spPr>
          <a:xfrm>
            <a:off x="5338659" y="2203704"/>
            <a:ext cx="164592" cy="164592"/>
          </a:xfrm>
          <a:prstGeom prst="ellipse">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35155" y="1600200"/>
            <a:ext cx="1371600" cy="502920"/>
          </a:xfrm>
          <a:prstGeom prst="rect">
            <a:avLst/>
          </a:prstGeom>
          <a:noFill/>
        </p:spPr>
        <p:txBody>
          <a:bodyPr wrap="square">
            <a:spAutoFit/>
          </a:bodyPr>
          <a:lstStyle/>
          <a:p>
            <a:pPr algn="ctr"/>
            <a:r>
              <a:rPr sz="1300" b="1">
                <a:solidFill>
                  <a:srgbClr val="1F3354"/>
                </a:solidFill>
              </a:rPr>
              <a:t>W7</a:t>
            </a:r>
          </a:p>
          <a:p>
            <a:pPr algn="ctr"/>
            <a:r>
              <a:rPr sz="1000">
                <a:solidFill>
                  <a:srgbClr val="555555"/>
                </a:solidFill>
              </a:rPr>
              <a:t>LLD</a:t>
            </a:r>
          </a:p>
        </p:txBody>
      </p:sp>
      <p:sp>
        <p:nvSpPr>
          <p:cNvPr id="16" name="TextBox 15"/>
          <p:cNvSpPr txBox="1"/>
          <p:nvPr/>
        </p:nvSpPr>
        <p:spPr>
          <a:xfrm>
            <a:off x="4597995" y="2468880"/>
            <a:ext cx="1645920" cy="1463040"/>
          </a:xfrm>
          <a:prstGeom prst="rect">
            <a:avLst/>
          </a:prstGeom>
          <a:noFill/>
        </p:spPr>
        <p:txBody>
          <a:bodyPr wrap="square">
            <a:spAutoFit/>
          </a:bodyPr>
          <a:lstStyle/>
          <a:p>
            <a:pPr algn="ctr"/>
            <a:r>
              <a:rPr sz="1100">
                <a:solidFill>
                  <a:srgbClr val="222222"/>
                </a:solidFill>
              </a:rPr>
              <a:t>Oct 22 — Stage 1 pipeline integrated</a:t>
            </a:r>
          </a:p>
        </p:txBody>
      </p:sp>
      <p:sp>
        <p:nvSpPr>
          <p:cNvPr id="17" name="Oval 16"/>
          <p:cNvSpPr/>
          <p:nvPr/>
        </p:nvSpPr>
        <p:spPr>
          <a:xfrm>
            <a:off x="6871324" y="2203704"/>
            <a:ext cx="164592" cy="164592"/>
          </a:xfrm>
          <a:prstGeom prst="ellipse">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7820" y="1600200"/>
            <a:ext cx="1371600" cy="502920"/>
          </a:xfrm>
          <a:prstGeom prst="rect">
            <a:avLst/>
          </a:prstGeom>
          <a:noFill/>
        </p:spPr>
        <p:txBody>
          <a:bodyPr wrap="square">
            <a:spAutoFit/>
          </a:bodyPr>
          <a:lstStyle/>
          <a:p>
            <a:pPr algn="ctr"/>
            <a:r>
              <a:rPr sz="1300" b="1">
                <a:solidFill>
                  <a:srgbClr val="1F3354"/>
                </a:solidFill>
              </a:rPr>
              <a:t>W8</a:t>
            </a:r>
          </a:p>
          <a:p>
            <a:pPr algn="ctr"/>
            <a:r>
              <a:rPr sz="1000">
                <a:solidFill>
                  <a:srgbClr val="555555"/>
                </a:solidFill>
              </a:rPr>
              <a:t>Review</a:t>
            </a:r>
          </a:p>
        </p:txBody>
      </p:sp>
      <p:sp>
        <p:nvSpPr>
          <p:cNvPr id="19" name="TextBox 18"/>
          <p:cNvSpPr txBox="1"/>
          <p:nvPr/>
        </p:nvSpPr>
        <p:spPr>
          <a:xfrm>
            <a:off x="6130660" y="2468880"/>
            <a:ext cx="1645920" cy="1463040"/>
          </a:xfrm>
          <a:prstGeom prst="rect">
            <a:avLst/>
          </a:prstGeom>
          <a:noFill/>
        </p:spPr>
        <p:txBody>
          <a:bodyPr wrap="square">
            <a:spAutoFit/>
          </a:bodyPr>
          <a:lstStyle/>
          <a:p>
            <a:pPr algn="ctr"/>
            <a:r>
              <a:rPr sz="1100">
                <a:solidFill>
                  <a:srgbClr val="222222"/>
                </a:solidFill>
              </a:rPr>
              <a:t>Oct 29 — live demo to HP mentor</a:t>
            </a:r>
          </a:p>
        </p:txBody>
      </p:sp>
      <p:sp>
        <p:nvSpPr>
          <p:cNvPr id="20" name="Oval 19"/>
          <p:cNvSpPr/>
          <p:nvPr/>
        </p:nvSpPr>
        <p:spPr>
          <a:xfrm>
            <a:off x="8403989" y="2203704"/>
            <a:ext cx="164592" cy="164592"/>
          </a:xfrm>
          <a:prstGeom prst="ellipse">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00485" y="1600200"/>
            <a:ext cx="1371600" cy="502920"/>
          </a:xfrm>
          <a:prstGeom prst="rect">
            <a:avLst/>
          </a:prstGeom>
          <a:noFill/>
        </p:spPr>
        <p:txBody>
          <a:bodyPr wrap="square">
            <a:spAutoFit/>
          </a:bodyPr>
          <a:lstStyle/>
          <a:p>
            <a:pPr algn="ctr"/>
            <a:r>
              <a:rPr sz="1300" b="1">
                <a:solidFill>
                  <a:srgbClr val="1F3354"/>
                </a:solidFill>
              </a:rPr>
              <a:t>W9–11</a:t>
            </a:r>
          </a:p>
          <a:p>
            <a:pPr algn="ctr"/>
            <a:r>
              <a:rPr sz="1000">
                <a:solidFill>
                  <a:srgbClr val="555555"/>
                </a:solidFill>
              </a:rPr>
              <a:t>Implementation</a:t>
            </a:r>
          </a:p>
        </p:txBody>
      </p:sp>
      <p:sp>
        <p:nvSpPr>
          <p:cNvPr id="22" name="TextBox 21"/>
          <p:cNvSpPr txBox="1"/>
          <p:nvPr/>
        </p:nvSpPr>
        <p:spPr>
          <a:xfrm>
            <a:off x="7663325" y="2468880"/>
            <a:ext cx="1645920" cy="1463040"/>
          </a:xfrm>
          <a:prstGeom prst="rect">
            <a:avLst/>
          </a:prstGeom>
          <a:noFill/>
        </p:spPr>
        <p:txBody>
          <a:bodyPr wrap="square">
            <a:spAutoFit/>
          </a:bodyPr>
          <a:lstStyle/>
          <a:p>
            <a:pPr algn="ctr"/>
            <a:r>
              <a:rPr sz="1100">
                <a:solidFill>
                  <a:srgbClr val="222222"/>
                </a:solidFill>
              </a:rPr>
              <a:t>Nov 19 — core functionality complete</a:t>
            </a:r>
          </a:p>
        </p:txBody>
      </p:sp>
      <p:sp>
        <p:nvSpPr>
          <p:cNvPr id="23" name="Oval 22"/>
          <p:cNvSpPr/>
          <p:nvPr/>
        </p:nvSpPr>
        <p:spPr>
          <a:xfrm>
            <a:off x="9936654" y="2203704"/>
            <a:ext cx="164592" cy="164592"/>
          </a:xfrm>
          <a:prstGeom prst="ellipse">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33150" y="1600200"/>
            <a:ext cx="1371600" cy="502920"/>
          </a:xfrm>
          <a:prstGeom prst="rect">
            <a:avLst/>
          </a:prstGeom>
          <a:noFill/>
        </p:spPr>
        <p:txBody>
          <a:bodyPr wrap="square">
            <a:spAutoFit/>
          </a:bodyPr>
          <a:lstStyle/>
          <a:p>
            <a:pPr algn="ctr"/>
            <a:r>
              <a:rPr sz="1300" b="1">
                <a:solidFill>
                  <a:srgbClr val="1F3354"/>
                </a:solidFill>
              </a:rPr>
              <a:t>W12–13</a:t>
            </a:r>
          </a:p>
          <a:p>
            <a:pPr algn="ctr"/>
            <a:r>
              <a:rPr sz="1000">
                <a:solidFill>
                  <a:srgbClr val="555555"/>
                </a:solidFill>
              </a:rPr>
              <a:t>Validation</a:t>
            </a:r>
          </a:p>
        </p:txBody>
      </p:sp>
      <p:sp>
        <p:nvSpPr>
          <p:cNvPr id="25" name="TextBox 24"/>
          <p:cNvSpPr txBox="1"/>
          <p:nvPr/>
        </p:nvSpPr>
        <p:spPr>
          <a:xfrm>
            <a:off x="9195990" y="2468880"/>
            <a:ext cx="1645920" cy="1463040"/>
          </a:xfrm>
          <a:prstGeom prst="rect">
            <a:avLst/>
          </a:prstGeom>
          <a:noFill/>
        </p:spPr>
        <p:txBody>
          <a:bodyPr wrap="square">
            <a:spAutoFit/>
          </a:bodyPr>
          <a:lstStyle/>
          <a:p>
            <a:pPr algn="ctr"/>
            <a:r>
              <a:rPr sz="1100">
                <a:solidFill>
                  <a:srgbClr val="222222"/>
                </a:solidFill>
              </a:rPr>
              <a:t>Dec 3 — accuracy + retrain loop</a:t>
            </a:r>
          </a:p>
        </p:txBody>
      </p:sp>
      <p:sp>
        <p:nvSpPr>
          <p:cNvPr id="26" name="Oval 25"/>
          <p:cNvSpPr/>
          <p:nvPr/>
        </p:nvSpPr>
        <p:spPr>
          <a:xfrm>
            <a:off x="11469319" y="2203704"/>
            <a:ext cx="164592" cy="164592"/>
          </a:xfrm>
          <a:prstGeom prst="ellipse">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682935" y="1600200"/>
            <a:ext cx="1371600" cy="502920"/>
          </a:xfrm>
          <a:prstGeom prst="rect">
            <a:avLst/>
          </a:prstGeom>
          <a:noFill/>
        </p:spPr>
        <p:txBody>
          <a:bodyPr wrap="square">
            <a:spAutoFit/>
          </a:bodyPr>
          <a:lstStyle/>
          <a:p>
            <a:pPr algn="ctr"/>
            <a:r>
              <a:rPr sz="1300" b="1">
                <a:solidFill>
                  <a:srgbClr val="1F3354"/>
                </a:solidFill>
              </a:rPr>
              <a:t>W14–15</a:t>
            </a:r>
          </a:p>
          <a:p>
            <a:pPr algn="ctr"/>
            <a:r>
              <a:rPr sz="1000">
                <a:solidFill>
                  <a:srgbClr val="555555"/>
                </a:solidFill>
              </a:rPr>
              <a:t>Completion</a:t>
            </a:r>
          </a:p>
        </p:txBody>
      </p:sp>
      <p:sp>
        <p:nvSpPr>
          <p:cNvPr id="28" name="TextBox 27"/>
          <p:cNvSpPr txBox="1"/>
          <p:nvPr/>
        </p:nvSpPr>
        <p:spPr>
          <a:xfrm>
            <a:off x="10408615" y="2468880"/>
            <a:ext cx="1645920" cy="1463040"/>
          </a:xfrm>
          <a:prstGeom prst="rect">
            <a:avLst/>
          </a:prstGeom>
          <a:noFill/>
        </p:spPr>
        <p:txBody>
          <a:bodyPr wrap="square">
            <a:spAutoFit/>
          </a:bodyPr>
          <a:lstStyle/>
          <a:p>
            <a:pPr algn="ctr"/>
            <a:r>
              <a:rPr sz="1100">
                <a:solidFill>
                  <a:srgbClr val="222222"/>
                </a:solidFill>
              </a:rPr>
              <a:t>Dec 17 — final report &amp; demo</a:t>
            </a:r>
          </a:p>
        </p:txBody>
      </p:sp>
      <p:sp>
        <p:nvSpPr>
          <p:cNvPr id="29" name="TextBox 28"/>
          <p:cNvSpPr txBox="1"/>
          <p:nvPr/>
        </p:nvSpPr>
        <p:spPr>
          <a:xfrm>
            <a:off x="640080" y="5120640"/>
            <a:ext cx="10911535" cy="822960"/>
          </a:xfrm>
          <a:prstGeom prst="rect">
            <a:avLst/>
          </a:prstGeom>
          <a:noFill/>
        </p:spPr>
        <p:txBody>
          <a:bodyPr wrap="none">
            <a:spAutoFit/>
          </a:bodyPr>
          <a:lstStyle/>
          <a:p>
            <a:r>
              <a:rPr sz="1400" i="1">
                <a:solidFill>
                  <a:srgbClr val="555555"/>
                </a:solidFill>
              </a:rPr>
              <a:t>Core functionality targeted for completion before Week 12, per course guidance.</a:t>
            </a:r>
          </a:p>
        </p:txBody>
      </p:sp>
      <p:sp>
        <p:nvSpPr>
          <p:cNvPr id="30" name="TextBox 29"/>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6. RISK ANALYSIS</a:t>
            </a:r>
          </a:p>
          <a:p>
            <a:r>
              <a:rPr sz="2800" b="1">
                <a:solidFill>
                  <a:srgbClr val="FFFFFF"/>
                </a:solidFill>
              </a:rPr>
              <a:t>Risks, Mitigation &amp; Scope-Reduction Fallback</a:t>
            </a:r>
          </a:p>
        </p:txBody>
      </p:sp>
      <p:sp>
        <p:nvSpPr>
          <p:cNvPr id="4" name="Rounded Rectangle 3"/>
          <p:cNvSpPr/>
          <p:nvPr/>
        </p:nvSpPr>
        <p:spPr>
          <a:xfrm>
            <a:off x="457200" y="1371600"/>
            <a:ext cx="3576218" cy="2103120"/>
          </a:xfrm>
          <a:prstGeom prst="roundRect">
            <a:avLst>
              <a:gd name="adj" fmla="val 50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27000" tIns="127000" rIns="127000" rtlCol="0" anchor="ctr"/>
          <a:lstStyle/>
          <a:p>
            <a:pPr algn="ctr"/>
            <a:r>
              <a:rPr sz="1400" b="1">
                <a:solidFill>
                  <a:srgbClr val="1F3354"/>
                </a:solidFill>
              </a:rPr>
              <a:t>Silent removal failure</a:t>
            </a:r>
          </a:p>
          <a:p>
            <a:pPr>
              <a:spcBef>
                <a:spcPts val="400"/>
              </a:spcBef>
            </a:pPr>
            <a:r>
              <a:rPr sz="1100">
                <a:solidFill>
                  <a:srgbClr val="222222"/>
                </a:solidFill>
              </a:rPr>
              <a:t>FreeCAD gives no exception on an un-removable face</a:t>
            </a:r>
          </a:p>
          <a:p>
            <a:pPr>
              <a:spcBef>
                <a:spcPts val="800"/>
              </a:spcBef>
            </a:pPr>
            <a:r>
              <a:rPr sz="1100" b="1">
                <a:solidFill>
                  <a:srgbClr val="2F6FB0"/>
                </a:solidFill>
              </a:rPr>
              <a:t>Mitigation: </a:t>
            </a:r>
            <a:r>
              <a:rPr sz="1100">
                <a:solidFill>
                  <a:srgbClr val="222222"/>
                </a:solidFill>
              </a:rPr>
              <a:t>Compare-and-detect after every removal; log geometry + face ID</a:t>
            </a:r>
          </a:p>
        </p:txBody>
      </p:sp>
      <p:sp>
        <p:nvSpPr>
          <p:cNvPr id="5" name="Rounded Rectangle 4"/>
          <p:cNvSpPr/>
          <p:nvPr/>
        </p:nvSpPr>
        <p:spPr>
          <a:xfrm>
            <a:off x="3073298" y="1481328"/>
            <a:ext cx="868680" cy="256032"/>
          </a:xfrm>
          <a:prstGeom prst="roundRect">
            <a:avLst>
              <a:gd name="adj" fmla="val 50000"/>
            </a:avLst>
          </a:prstGeom>
          <a:solidFill>
            <a:srgbClr val="2F6FB0"/>
          </a:solidFill>
          <a:ln>
            <a:noFill/>
          </a:ln>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00" b="1">
                <a:solidFill>
                  <a:srgbClr val="FFFFFF"/>
                </a:solidFill>
              </a:rPr>
              <a:t>Technical</a:t>
            </a:r>
          </a:p>
        </p:txBody>
      </p:sp>
      <p:sp>
        <p:nvSpPr>
          <p:cNvPr id="6" name="Rounded Rectangle 5"/>
          <p:cNvSpPr/>
          <p:nvPr/>
        </p:nvSpPr>
        <p:spPr>
          <a:xfrm>
            <a:off x="4307738" y="1371600"/>
            <a:ext cx="3576218" cy="2103120"/>
          </a:xfrm>
          <a:prstGeom prst="roundRect">
            <a:avLst>
              <a:gd name="adj" fmla="val 50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27000" tIns="127000" rIns="127000" rtlCol="0" anchor="ctr"/>
          <a:lstStyle/>
          <a:p>
            <a:pPr algn="ctr"/>
            <a:r>
              <a:rPr sz="1400" b="1">
                <a:solidFill>
                  <a:srgbClr val="1F3354"/>
                </a:solidFill>
              </a:rPr>
              <a:t>Stage 2 (ML) underperforms</a:t>
            </a:r>
          </a:p>
          <a:p>
            <a:pPr>
              <a:spcBef>
                <a:spcPts val="400"/>
              </a:spcBef>
            </a:pPr>
            <a:r>
              <a:rPr sz="1100">
                <a:solidFill>
                  <a:srgbClr val="222222"/>
                </a:solidFill>
              </a:rPr>
              <a:t>Accuracy or training time falls short</a:t>
            </a:r>
          </a:p>
          <a:p>
            <a:pPr>
              <a:spcBef>
                <a:spcPts val="800"/>
              </a:spcBef>
            </a:pPr>
            <a:r>
              <a:rPr sz="1100" b="1">
                <a:solidFill>
                  <a:srgbClr val="C9722A"/>
                </a:solidFill>
              </a:rPr>
              <a:t>Mitigation: </a:t>
            </a:r>
            <a:r>
              <a:rPr sz="1100">
                <a:solidFill>
                  <a:srgbClr val="222222"/>
                </a:solidFill>
              </a:rPr>
              <a:t>Stage 1 is independently demoable; ML is additive, not a blocker</a:t>
            </a:r>
          </a:p>
        </p:txBody>
      </p:sp>
      <p:sp>
        <p:nvSpPr>
          <p:cNvPr id="7" name="Rounded Rectangle 6"/>
          <p:cNvSpPr/>
          <p:nvPr/>
        </p:nvSpPr>
        <p:spPr>
          <a:xfrm>
            <a:off x="6923836" y="1481328"/>
            <a:ext cx="868680" cy="256032"/>
          </a:xfrm>
          <a:prstGeom prst="roundRect">
            <a:avLst>
              <a:gd name="adj" fmla="val 50000"/>
            </a:avLst>
          </a:prstGeom>
          <a:solidFill>
            <a:srgbClr val="C9722A"/>
          </a:solidFill>
          <a:ln>
            <a:noFill/>
          </a:ln>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00" b="1">
                <a:solidFill>
                  <a:srgbClr val="FFFFFF"/>
                </a:solidFill>
              </a:rPr>
              <a:t>Schedule</a:t>
            </a:r>
          </a:p>
        </p:txBody>
      </p:sp>
      <p:sp>
        <p:nvSpPr>
          <p:cNvPr id="8" name="Rounded Rectangle 7"/>
          <p:cNvSpPr/>
          <p:nvPr/>
        </p:nvSpPr>
        <p:spPr>
          <a:xfrm>
            <a:off x="8158276" y="1371600"/>
            <a:ext cx="3576218" cy="2103120"/>
          </a:xfrm>
          <a:prstGeom prst="roundRect">
            <a:avLst>
              <a:gd name="adj" fmla="val 50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27000" tIns="127000" rIns="127000" rtlCol="0" anchor="ctr"/>
          <a:lstStyle/>
          <a:p>
            <a:pPr algn="ctr"/>
            <a:r>
              <a:rPr sz="1400" b="1">
                <a:solidFill>
                  <a:srgbClr val="1F3354"/>
                </a:solidFill>
              </a:rPr>
              <a:t>Uneven team engagement</a:t>
            </a:r>
          </a:p>
          <a:p>
            <a:pPr>
              <a:spcBef>
                <a:spcPts val="400"/>
              </a:spcBef>
            </a:pPr>
            <a:r>
              <a:rPr sz="1100">
                <a:solidFill>
                  <a:srgbClr val="222222"/>
                </a:solidFill>
              </a:rPr>
              <a:t>Common risk on distributed teams</a:t>
            </a:r>
          </a:p>
          <a:p>
            <a:pPr>
              <a:spcBef>
                <a:spcPts val="800"/>
              </a:spcBef>
            </a:pPr>
            <a:r>
              <a:rPr sz="1100" b="1">
                <a:solidFill>
                  <a:srgbClr val="C9722A"/>
                </a:solidFill>
              </a:rPr>
              <a:t>Mitigation: </a:t>
            </a:r>
            <a:r>
              <a:rPr sz="1100">
                <a:solidFill>
                  <a:srgbClr val="222222"/>
                </a:solidFill>
              </a:rPr>
              <a:t>Team lead owns critical-path modules directly</a:t>
            </a:r>
          </a:p>
        </p:txBody>
      </p:sp>
      <p:sp>
        <p:nvSpPr>
          <p:cNvPr id="9" name="Rounded Rectangle 8"/>
          <p:cNvSpPr/>
          <p:nvPr/>
        </p:nvSpPr>
        <p:spPr>
          <a:xfrm>
            <a:off x="10774375" y="1481328"/>
            <a:ext cx="868680" cy="256032"/>
          </a:xfrm>
          <a:prstGeom prst="roundRect">
            <a:avLst>
              <a:gd name="adj" fmla="val 50000"/>
            </a:avLst>
          </a:prstGeom>
          <a:solidFill>
            <a:srgbClr val="C9722A"/>
          </a:solidFill>
          <a:ln>
            <a:noFill/>
          </a:ln>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00" b="1">
                <a:solidFill>
                  <a:srgbClr val="FFFFFF"/>
                </a:solidFill>
              </a:rPr>
              <a:t>Schedule</a:t>
            </a:r>
          </a:p>
        </p:txBody>
      </p:sp>
      <p:sp>
        <p:nvSpPr>
          <p:cNvPr id="10" name="Rounded Rectangle 9"/>
          <p:cNvSpPr/>
          <p:nvPr/>
        </p:nvSpPr>
        <p:spPr>
          <a:xfrm>
            <a:off x="457200" y="3657600"/>
            <a:ext cx="3576218" cy="2103120"/>
          </a:xfrm>
          <a:prstGeom prst="roundRect">
            <a:avLst>
              <a:gd name="adj" fmla="val 50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27000" tIns="127000" rIns="127000" rtlCol="0" anchor="ctr"/>
          <a:lstStyle/>
          <a:p>
            <a:pPr algn="ctr"/>
            <a:r>
              <a:rPr sz="1400" b="1">
                <a:solidFill>
                  <a:srgbClr val="1F3354"/>
                </a:solidFill>
              </a:rPr>
              <a:t>Red-face export needs GUI</a:t>
            </a:r>
          </a:p>
          <a:p>
            <a:pPr>
              <a:spcBef>
                <a:spcPts val="400"/>
              </a:spcBef>
            </a:pPr>
            <a:r>
              <a:rPr sz="1100">
                <a:solidFill>
                  <a:srgbClr val="222222"/>
                </a:solidFill>
              </a:rPr>
              <a:t>Headless mode can't store per-face color</a:t>
            </a:r>
          </a:p>
          <a:p>
            <a:pPr>
              <a:spcBef>
                <a:spcPts val="800"/>
              </a:spcBef>
            </a:pPr>
            <a:r>
              <a:rPr sz="1100" b="1">
                <a:solidFill>
                  <a:srgbClr val="2F6FB0"/>
                </a:solidFill>
              </a:rPr>
              <a:t>Mitigation: </a:t>
            </a:r>
            <a:r>
              <a:rPr sz="1100">
                <a:solidFill>
                  <a:srgbClr val="222222"/>
                </a:solidFill>
              </a:rPr>
              <a:t>Run as an isolated GUI post-process; main pipeline stays headless</a:t>
            </a:r>
          </a:p>
        </p:txBody>
      </p:sp>
      <p:sp>
        <p:nvSpPr>
          <p:cNvPr id="11" name="Rounded Rectangle 10"/>
          <p:cNvSpPr/>
          <p:nvPr/>
        </p:nvSpPr>
        <p:spPr>
          <a:xfrm>
            <a:off x="3073298" y="3767328"/>
            <a:ext cx="868680" cy="256032"/>
          </a:xfrm>
          <a:prstGeom prst="roundRect">
            <a:avLst>
              <a:gd name="adj" fmla="val 50000"/>
            </a:avLst>
          </a:prstGeom>
          <a:solidFill>
            <a:srgbClr val="2F6FB0"/>
          </a:solidFill>
          <a:ln>
            <a:noFill/>
          </a:ln>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00" b="1">
                <a:solidFill>
                  <a:srgbClr val="FFFFFF"/>
                </a:solidFill>
              </a:rPr>
              <a:t>Technical</a:t>
            </a:r>
          </a:p>
        </p:txBody>
      </p:sp>
      <p:sp>
        <p:nvSpPr>
          <p:cNvPr id="12" name="Rounded Rectangle 11"/>
          <p:cNvSpPr/>
          <p:nvPr/>
        </p:nvSpPr>
        <p:spPr>
          <a:xfrm>
            <a:off x="4307738" y="3657600"/>
            <a:ext cx="3576218" cy="2103120"/>
          </a:xfrm>
          <a:prstGeom prst="roundRect">
            <a:avLst>
              <a:gd name="adj" fmla="val 50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27000" tIns="127000" rIns="127000" rtlCol="0" anchor="ctr"/>
          <a:lstStyle/>
          <a:p>
            <a:pPr algn="ctr"/>
            <a:r>
              <a:rPr sz="1400" b="1">
                <a:solidFill>
                  <a:srgbClr val="1F3354"/>
                </a:solidFill>
              </a:rPr>
              <a:t>Scope creep</a:t>
            </a:r>
          </a:p>
          <a:p>
            <a:pPr>
              <a:spcBef>
                <a:spcPts val="400"/>
              </a:spcBef>
            </a:pPr>
            <a:r>
              <a:rPr sz="1100">
                <a:solidFill>
                  <a:srgbClr val="222222"/>
                </a:solidFill>
              </a:rPr>
              <a:t>Trying to support every feature type</a:t>
            </a:r>
          </a:p>
          <a:p>
            <a:pPr>
              <a:spcBef>
                <a:spcPts val="800"/>
              </a:spcBef>
            </a:pPr>
            <a:r>
              <a:rPr sz="1100" b="1">
                <a:solidFill>
                  <a:srgbClr val="7A4FB5"/>
                </a:solidFill>
              </a:rPr>
              <a:t>Mitigation: </a:t>
            </a:r>
            <a:r>
              <a:rPr sz="1100">
                <a:solidFill>
                  <a:srgbClr val="222222"/>
                </a:solidFill>
              </a:rPr>
              <a:t>Prioritize HP's 3 named shape types; rest are stretch goals</a:t>
            </a:r>
          </a:p>
        </p:txBody>
      </p:sp>
      <p:sp>
        <p:nvSpPr>
          <p:cNvPr id="13" name="Rounded Rectangle 12"/>
          <p:cNvSpPr/>
          <p:nvPr/>
        </p:nvSpPr>
        <p:spPr>
          <a:xfrm>
            <a:off x="6923836" y="3767328"/>
            <a:ext cx="868680" cy="256032"/>
          </a:xfrm>
          <a:prstGeom prst="roundRect">
            <a:avLst>
              <a:gd name="adj" fmla="val 50000"/>
            </a:avLst>
          </a:prstGeom>
          <a:solidFill>
            <a:srgbClr val="7A4FB5"/>
          </a:solidFill>
          <a:ln>
            <a:noFill/>
          </a:ln>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00" b="1">
                <a:solidFill>
                  <a:srgbClr val="FFFFFF"/>
                </a:solidFill>
              </a:rPr>
              <a:t>Scope</a:t>
            </a:r>
          </a:p>
        </p:txBody>
      </p:sp>
      <p:sp>
        <p:nvSpPr>
          <p:cNvPr id="14" name="Rounded Rectangle 13"/>
          <p:cNvSpPr/>
          <p:nvPr/>
        </p:nvSpPr>
        <p:spPr>
          <a:xfrm>
            <a:off x="8158276" y="3657600"/>
            <a:ext cx="3576218" cy="2103120"/>
          </a:xfrm>
          <a:prstGeom prst="roundRect">
            <a:avLst>
              <a:gd name="adj" fmla="val 5000"/>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wrap="square" lIns="127000" tIns="127000" rIns="127000" rtlCol="0" anchor="ctr"/>
          <a:lstStyle/>
          <a:p>
            <a:pPr algn="ctr"/>
            <a:r>
              <a:rPr sz="1400" b="1">
                <a:solidFill>
                  <a:srgbClr val="B8860B"/>
                </a:solidFill>
              </a:rPr>
              <a:t>Scope-Reduction Fallback</a:t>
            </a:r>
          </a:p>
          <a:p>
            <a:pPr>
              <a:spcBef>
                <a:spcPts val="600"/>
              </a:spcBef>
            </a:pPr>
            <a:r>
              <a:rPr sz="1200">
                <a:solidFill>
                  <a:srgbClr val="FFFFFF"/>
                </a:solidFill>
              </a:rPr>
              <a:t>If Stage 2 (ML) isn't reliable by Week 12, ship Stage 1 (rules) + failure-case collection as the final result.</a:t>
            </a:r>
          </a:p>
        </p:txBody>
      </p:sp>
      <p:sp>
        <p:nvSpPr>
          <p:cNvPr id="15" name="TextBox 1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7. ROLE OF THE PARTICIPATING COMPANY</a:t>
            </a:r>
          </a:p>
          <a:p>
            <a:r>
              <a:rPr sz="2800" b="1">
                <a:solidFill>
                  <a:srgbClr val="FFFFFF"/>
                </a:solidFill>
              </a:rPr>
              <a:t>HP Printing Korea</a:t>
            </a:r>
          </a:p>
        </p:txBody>
      </p:sp>
      <p:sp>
        <p:nvSpPr>
          <p:cNvPr id="4" name="TextBox 3"/>
          <p:cNvSpPr txBox="1"/>
          <p:nvPr/>
        </p:nvSpPr>
        <p:spPr>
          <a:xfrm>
            <a:off x="640080" y="1371600"/>
            <a:ext cx="10911535" cy="4937760"/>
          </a:xfrm>
          <a:prstGeom prst="rect">
            <a:avLst/>
          </a:prstGeom>
          <a:noFill/>
        </p:spPr>
        <p:txBody>
          <a:bodyPr wrap="square">
            <a:spAutoFit/>
          </a:bodyPr>
          <a:lstStyle/>
          <a:p>
            <a:pPr>
              <a:spcAft>
                <a:spcPts val="1600"/>
              </a:spcAft>
            </a:pPr>
            <a:r>
              <a:rPr sz="2000" b="1">
                <a:solidFill>
                  <a:srgbClr val="1F3354"/>
                </a:solidFill>
              </a:rPr>
              <a:t>▪  Resources: domain guidance, test-shape spec, confirmed constraints</a:t>
            </a:r>
          </a:p>
          <a:p>
            <a:pPr>
              <a:spcAft>
                <a:spcPts val="1600"/>
              </a:spcAft>
            </a:pPr>
            <a:r>
              <a:rPr sz="2000" b="1">
                <a:solidFill>
                  <a:srgbClr val="1F3354"/>
                </a:solidFill>
              </a:rPr>
              <a:t>▪  Mentoring: recurring meetings with Byoungho Yoo (CAE)</a:t>
            </a:r>
          </a:p>
          <a:p>
            <a:pPr>
              <a:spcAft>
                <a:spcPts val="1600"/>
              </a:spcAft>
            </a:pPr>
            <a:r>
              <a:rPr sz="2000" b="1">
                <a:solidFill>
                  <a:srgbClr val="1F3354"/>
                </a:solidFill>
              </a:rPr>
              <a:t>▪  Feedback: open questions per meeting → tracked into FRD/NFRD</a:t>
            </a:r>
          </a:p>
          <a:p>
            <a:pPr>
              <a:spcAft>
                <a:spcPts val="1600"/>
              </a:spcAft>
            </a:pPr>
            <a:r>
              <a:rPr sz="2000" b="1">
                <a:solidFill>
                  <a:srgbClr val="1F3354"/>
                </a:solidFill>
              </a:rPr>
              <a:t>▪  Scope split: defeaturing accuracy in scope; CAE analysis accuracy out of scope</a:t>
            </a:r>
          </a:p>
        </p:txBody>
      </p:sp>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8. EXPECTED IMPACT &amp; EXPANSION</a:t>
            </a:r>
          </a:p>
          <a:p>
            <a:r>
              <a:rPr sz="2800" b="1">
                <a:solidFill>
                  <a:srgbClr val="FFFFFF"/>
                </a:solidFill>
              </a:rPr>
              <a:t>Impact, Applicability &amp; Future Directions</a:t>
            </a:r>
          </a:p>
        </p:txBody>
      </p:sp>
      <p:sp>
        <p:nvSpPr>
          <p:cNvPr id="4" name="TextBox 3"/>
          <p:cNvSpPr txBox="1"/>
          <p:nvPr/>
        </p:nvSpPr>
        <p:spPr>
          <a:xfrm>
            <a:off x="640080" y="1371600"/>
            <a:ext cx="10911535" cy="4937760"/>
          </a:xfrm>
          <a:prstGeom prst="rect">
            <a:avLst/>
          </a:prstGeom>
          <a:noFill/>
        </p:spPr>
        <p:txBody>
          <a:bodyPr wrap="square">
            <a:spAutoFit/>
          </a:bodyPr>
          <a:lstStyle/>
          <a:p>
            <a:pPr>
              <a:spcAft>
                <a:spcPts val="1400"/>
              </a:spcAft>
            </a:pPr>
            <a:r>
              <a:rPr sz="1900" b="1">
                <a:solidFill>
                  <a:srgbClr val="1F3354"/>
                </a:solidFill>
              </a:rPr>
              <a:t>▪  Impact: 70–90% less CAD prep time; a reusable, improving model</a:t>
            </a:r>
          </a:p>
          <a:p>
            <a:pPr>
              <a:spcAft>
                <a:spcPts val="1400"/>
              </a:spcAft>
            </a:pPr>
            <a:r>
              <a:rPr sz="1900" b="1">
                <a:solidFill>
                  <a:srgbClr val="1F3354"/>
                </a:solidFill>
              </a:rPr>
              <a:t>▪  Fits HP's workflow: preprocessing step, runs on a normal laptop</a:t>
            </a:r>
          </a:p>
          <a:p>
            <a:pPr>
              <a:spcAft>
                <a:spcPts val="1400"/>
              </a:spcAft>
            </a:pPr>
            <a:r>
              <a:rPr sz="1900" b="1">
                <a:solidFill>
                  <a:srgbClr val="1F3354"/>
                </a:solidFill>
              </a:rPr>
              <a:t>▪  Future: more feature types beyond HP's initial 3</a:t>
            </a:r>
          </a:p>
          <a:p>
            <a:pPr lvl="1">
              <a:spcAft>
                <a:spcPts val="1400"/>
              </a:spcAft>
            </a:pPr>
            <a:r>
              <a:rPr sz="1700" b="0">
                <a:solidFill>
                  <a:srgbClr val="333333"/>
                </a:solidFill>
              </a:rPr>
              <a:t>–  NX support, if licensing allows</a:t>
            </a:r>
          </a:p>
          <a:p>
            <a:pPr lvl="1">
              <a:spcAft>
                <a:spcPts val="1400"/>
              </a:spcAft>
            </a:pPr>
            <a:r>
              <a:rPr sz="1700" b="0">
                <a:solidFill>
                  <a:srgbClr val="333333"/>
                </a:solidFill>
              </a:rPr>
              <a:t>–  Lightweight review UI beyond image + approve/reject</a:t>
            </a:r>
          </a:p>
          <a:p>
            <a:pPr lvl="1">
              <a:spcAft>
                <a:spcPts val="1400"/>
              </a:spcAft>
            </a:pPr>
            <a:r>
              <a:rPr sz="1700" b="0">
                <a:solidFill>
                  <a:srgbClr val="333333"/>
                </a:solidFill>
              </a:rPr>
              <a:t>–  Continuously improving model via the retraining loop</a:t>
            </a:r>
          </a:p>
        </p:txBody>
      </p:sp>
      <p:sp>
        <p:nvSpPr>
          <p:cNvPr id="5" name="TextBox 4"/>
          <p:cNvSpPr txBox="1"/>
          <p:nvPr/>
        </p:nvSpPr>
        <p:spPr>
          <a:xfrm>
            <a:off x="502920" y="6492240"/>
            <a:ext cx="10820095" cy="274320"/>
          </a:xfrm>
          <a:prstGeom prst="rect">
            <a:avLst/>
          </a:prstGeom>
          <a:noFill/>
        </p:spPr>
        <p:txBody>
          <a:bodyPr wrap="none">
            <a:spAutoFit/>
          </a:bodyPr>
          <a:lstStyle/>
          <a:p>
            <a:r>
              <a:rPr sz="1000">
                <a:solidFill>
                  <a:srgbClr val="555555"/>
                </a:solidFill>
              </a:rPr>
              <a:t>CleanCAD · Project Proposal · HP Printing Korea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185855" cy="822960"/>
          </a:xfrm>
          <a:prstGeom prst="rect">
            <a:avLst/>
          </a:prstGeom>
          <a:noFill/>
        </p:spPr>
        <p:txBody>
          <a:bodyPr wrap="square">
            <a:spAutoFit/>
          </a:bodyPr>
          <a:lstStyle/>
          <a:p>
            <a:r>
              <a:rPr sz="1300" b="1">
                <a:solidFill>
                  <a:srgbClr val="B8860B"/>
                </a:solidFill>
              </a:rPr>
              <a:t>9. TEAM ORGANIZATION</a:t>
            </a:r>
          </a:p>
          <a:p>
            <a:r>
              <a:rPr sz="2800" b="1">
                <a:solidFill>
                  <a:srgbClr val="FFFFFF"/>
                </a:solidFill>
              </a:rPr>
              <a:t>Roles, Responsibilities &amp; Decision-Making</a:t>
            </a:r>
          </a:p>
        </p:txBody>
      </p:sp>
      <p:sp>
        <p:nvSpPr>
          <p:cNvPr id="4" name="Rounded Rectangle 3"/>
          <p:cNvSpPr/>
          <p:nvPr/>
        </p:nvSpPr>
        <p:spPr>
          <a:xfrm>
            <a:off x="457200" y="1417320"/>
            <a:ext cx="2647873" cy="3566160"/>
          </a:xfrm>
          <a:prstGeom prst="roundRect">
            <a:avLst>
              <a:gd name="adj" fmla="val 45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52400" tIns="177800" rIns="152400" bIns="101600" rtlCol="0" anchor="ctr"/>
          <a:lstStyle/>
          <a:p>
            <a:pPr algn="ctr"/>
            <a:r>
              <a:rPr sz="1500" b="1">
                <a:solidFill>
                  <a:srgbClr val="1F3354"/>
                </a:solidFill>
              </a:rPr>
              <a:t>CAD Geometry Engineer</a:t>
            </a:r>
          </a:p>
          <a:p>
            <a:pPr>
              <a:spcBef>
                <a:spcPts val="100"/>
              </a:spcBef>
            </a:pPr>
            <a:r>
              <a:rPr sz="1200" b="1">
                <a:solidFill>
                  <a:srgbClr val="2F6FB0"/>
                </a:solidFill>
              </a:rPr>
              <a:t>Junoh Lee — Team Lead</a:t>
            </a:r>
          </a:p>
          <a:p>
            <a:pPr>
              <a:spcBef>
                <a:spcPts val="600"/>
              </a:spcBef>
            </a:pPr>
            <a:r>
              <a:rPr sz="1200">
                <a:solidFill>
                  <a:srgbClr val="222222"/>
                </a:solidFill>
              </a:rPr>
              <a:t>•  STEP I/O, feature removal</a:t>
            </a:r>
          </a:p>
          <a:p>
            <a:pPr>
              <a:spcBef>
                <a:spcPts val="600"/>
              </a:spcBef>
            </a:pPr>
            <a:r>
              <a:rPr sz="1200">
                <a:solidFill>
                  <a:srgbClr val="222222"/>
                </a:solidFill>
              </a:rPr>
              <a:t>•  Geometry healing</a:t>
            </a:r>
          </a:p>
          <a:p>
            <a:pPr>
              <a:spcBef>
                <a:spcPts val="600"/>
              </a:spcBef>
            </a:pPr>
            <a:r>
              <a:rPr sz="1200">
                <a:solidFill>
                  <a:srgbClr val="222222"/>
                </a:solidFill>
              </a:rPr>
              <a:t>•  Schedule &amp; deliverables</a:t>
            </a:r>
          </a:p>
        </p:txBody>
      </p:sp>
      <p:sp>
        <p:nvSpPr>
          <p:cNvPr id="5" name="Rounded Rectangle 4"/>
          <p:cNvSpPr/>
          <p:nvPr/>
        </p:nvSpPr>
        <p:spPr>
          <a:xfrm>
            <a:off x="457200" y="1417320"/>
            <a:ext cx="2647873" cy="100584"/>
          </a:xfrm>
          <a:prstGeom prst="roundRect">
            <a:avLst/>
          </a:prstGeom>
          <a:solidFill>
            <a:srgbClr val="2F6F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333673" y="1417320"/>
            <a:ext cx="2647873" cy="3566160"/>
          </a:xfrm>
          <a:prstGeom prst="roundRect">
            <a:avLst>
              <a:gd name="adj" fmla="val 45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52400" tIns="177800" rIns="152400" bIns="101600" rtlCol="0" anchor="ctr"/>
          <a:lstStyle/>
          <a:p>
            <a:pPr algn="ctr"/>
            <a:r>
              <a:rPr sz="1500" b="1">
                <a:solidFill>
                  <a:srgbClr val="1F3354"/>
                </a:solidFill>
              </a:rPr>
              <a:t>ML / Graph Model Engineer</a:t>
            </a:r>
          </a:p>
          <a:p>
            <a:pPr>
              <a:spcBef>
                <a:spcPts val="100"/>
              </a:spcBef>
            </a:pPr>
            <a:r>
              <a:rPr sz="1200" b="1">
                <a:solidFill>
                  <a:srgbClr val="7A4FB5"/>
                </a:solidFill>
              </a:rPr>
              <a:t>Hemanth Reddy Vangala</a:t>
            </a:r>
          </a:p>
          <a:p>
            <a:pPr>
              <a:spcBef>
                <a:spcPts val="600"/>
              </a:spcBef>
            </a:pPr>
            <a:r>
              <a:rPr sz="1200">
                <a:solidFill>
                  <a:srgbClr val="222222"/>
                </a:solidFill>
              </a:rPr>
              <a:t>•  B-rep → graph conversion</a:t>
            </a:r>
          </a:p>
          <a:p>
            <a:pPr>
              <a:spcBef>
                <a:spcPts val="600"/>
              </a:spcBef>
            </a:pPr>
            <a:r>
              <a:rPr sz="1200">
                <a:solidFill>
                  <a:srgbClr val="222222"/>
                </a:solidFill>
              </a:rPr>
              <a:t>•  GNN feature recognition</a:t>
            </a:r>
          </a:p>
          <a:p>
            <a:pPr>
              <a:spcBef>
                <a:spcPts val="600"/>
              </a:spcBef>
            </a:pPr>
            <a:r>
              <a:rPr sz="1200">
                <a:solidFill>
                  <a:srgbClr val="222222"/>
                </a:solidFill>
              </a:rPr>
              <a:t>•  CPU-inference model choice</a:t>
            </a:r>
          </a:p>
        </p:txBody>
      </p:sp>
      <p:sp>
        <p:nvSpPr>
          <p:cNvPr id="7" name="Rounded Rectangle 6"/>
          <p:cNvSpPr/>
          <p:nvPr/>
        </p:nvSpPr>
        <p:spPr>
          <a:xfrm>
            <a:off x="3333673" y="1417320"/>
            <a:ext cx="2647873" cy="100584"/>
          </a:xfrm>
          <a:prstGeom prst="roundRect">
            <a:avLst/>
          </a:prstGeom>
          <a:solidFill>
            <a:srgbClr val="7A4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0147" y="1417320"/>
            <a:ext cx="2647873" cy="3566160"/>
          </a:xfrm>
          <a:prstGeom prst="roundRect">
            <a:avLst>
              <a:gd name="adj" fmla="val 45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52400" tIns="177800" rIns="152400" bIns="101600" rtlCol="0" anchor="ctr"/>
          <a:lstStyle/>
          <a:p>
            <a:pPr algn="ctr"/>
            <a:r>
              <a:rPr sz="1500" b="1">
                <a:solidFill>
                  <a:srgbClr val="1F3354"/>
                </a:solidFill>
              </a:rPr>
              <a:t>Data Pipeline Engineer</a:t>
            </a:r>
          </a:p>
          <a:p>
            <a:pPr>
              <a:spcBef>
                <a:spcPts val="100"/>
              </a:spcBef>
            </a:pPr>
            <a:r>
              <a:rPr sz="1200" b="1">
                <a:solidFill>
                  <a:srgbClr val="2F9E6E"/>
                </a:solidFill>
              </a:rPr>
              <a:t>Aneela Tahir</a:t>
            </a:r>
          </a:p>
          <a:p>
            <a:pPr>
              <a:spcBef>
                <a:spcPts val="600"/>
              </a:spcBef>
            </a:pPr>
            <a:r>
              <a:rPr sz="1200">
                <a:solidFill>
                  <a:srgbClr val="222222"/>
                </a:solidFill>
              </a:rPr>
              <a:t>•  Self-authored test shapes</a:t>
            </a:r>
          </a:p>
          <a:p>
            <a:pPr>
              <a:spcBef>
                <a:spcPts val="600"/>
              </a:spcBef>
            </a:pPr>
            <a:r>
              <a:rPr sz="1200">
                <a:solidFill>
                  <a:srgbClr val="222222"/>
                </a:solidFill>
              </a:rPr>
              <a:t>•  Labeling</a:t>
            </a:r>
          </a:p>
          <a:p>
            <a:pPr>
              <a:spcBef>
                <a:spcPts val="600"/>
              </a:spcBef>
            </a:pPr>
            <a:r>
              <a:rPr sz="1200">
                <a:solidFill>
                  <a:srgbClr val="222222"/>
                </a:solidFill>
              </a:rPr>
              <a:t>•  Error analysis</a:t>
            </a:r>
          </a:p>
        </p:txBody>
      </p:sp>
      <p:sp>
        <p:nvSpPr>
          <p:cNvPr id="9" name="Rounded Rectangle 8"/>
          <p:cNvSpPr/>
          <p:nvPr/>
        </p:nvSpPr>
        <p:spPr>
          <a:xfrm>
            <a:off x="6210147" y="1417320"/>
            <a:ext cx="2647873" cy="100584"/>
          </a:xfrm>
          <a:prstGeom prst="roundRect">
            <a:avLst/>
          </a:prstGeom>
          <a:solidFill>
            <a:srgbClr val="2F9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086621" y="1417320"/>
            <a:ext cx="2647873" cy="3566160"/>
          </a:xfrm>
          <a:prstGeom prst="roundRect">
            <a:avLst>
              <a:gd name="adj" fmla="val 4500"/>
            </a:avLst>
          </a:prstGeom>
          <a:solidFill>
            <a:srgbClr val="FFFFFF"/>
          </a:solidFill>
          <a:ln w="9525">
            <a:solidFill>
              <a:srgbClr val="DDDDDD"/>
            </a:solidFill>
          </a:ln>
        </p:spPr>
        <p:style>
          <a:lnRef idx="1">
            <a:schemeClr val="accent1"/>
          </a:lnRef>
          <a:fillRef idx="3">
            <a:schemeClr val="accent1"/>
          </a:fillRef>
          <a:effectRef idx="2">
            <a:schemeClr val="accent1"/>
          </a:effectRef>
          <a:fontRef idx="minor">
            <a:schemeClr val="lt1"/>
          </a:fontRef>
        </p:style>
        <p:txBody>
          <a:bodyPr wrap="square" lIns="152400" tIns="177800" rIns="152400" bIns="101600" rtlCol="0" anchor="ctr"/>
          <a:lstStyle/>
          <a:p>
            <a:pPr algn="ctr"/>
            <a:r>
              <a:rPr sz="1500" b="1">
                <a:solidFill>
                  <a:srgbClr val="1F3354"/>
                </a:solidFill>
              </a:rPr>
              <a:t>Integration &amp; Test Engineer</a:t>
            </a:r>
          </a:p>
          <a:p>
            <a:pPr>
              <a:spcBef>
                <a:spcPts val="100"/>
              </a:spcBef>
            </a:pPr>
            <a:r>
              <a:rPr sz="1200" b="1">
                <a:solidFill>
                  <a:srgbClr val="C9722A"/>
                </a:solidFill>
              </a:rPr>
              <a:t>Balcha Kidus Elias</a:t>
            </a:r>
          </a:p>
          <a:p>
            <a:pPr>
              <a:spcBef>
                <a:spcPts val="600"/>
              </a:spcBef>
            </a:pPr>
            <a:r>
              <a:rPr sz="1200">
                <a:solidFill>
                  <a:srgbClr val="222222"/>
                </a:solidFill>
              </a:rPr>
              <a:t>•  Module contracts</a:t>
            </a:r>
          </a:p>
          <a:p>
            <a:pPr>
              <a:spcBef>
                <a:spcPts val="600"/>
              </a:spcBef>
            </a:pPr>
            <a:r>
              <a:rPr sz="1200">
                <a:solidFill>
                  <a:srgbClr val="222222"/>
                </a:solidFill>
              </a:rPr>
              <a:t>•  Automated tests</a:t>
            </a:r>
          </a:p>
          <a:p>
            <a:pPr>
              <a:spcBef>
                <a:spcPts val="600"/>
              </a:spcBef>
            </a:pPr>
            <a:r>
              <a:rPr sz="1200">
                <a:solidFill>
                  <a:srgbClr val="222222"/>
                </a:solidFill>
              </a:rPr>
              <a:t>•  Performance checks</a:t>
            </a:r>
          </a:p>
        </p:txBody>
      </p:sp>
      <p:sp>
        <p:nvSpPr>
          <p:cNvPr id="11" name="Rounded Rectangle 10"/>
          <p:cNvSpPr/>
          <p:nvPr/>
        </p:nvSpPr>
        <p:spPr>
          <a:xfrm>
            <a:off x="9086621" y="1417320"/>
            <a:ext cx="2647873" cy="100584"/>
          </a:xfrm>
          <a:prstGeom prst="roundRect">
            <a:avLst/>
          </a:prstGeom>
          <a:solidFill>
            <a:srgbClr val="C97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5257800"/>
            <a:ext cx="11277295" cy="868680"/>
          </a:xfrm>
          <a:prstGeom prst="roundRect">
            <a:avLst>
              <a:gd name="adj" fmla="val 8000"/>
            </a:avLst>
          </a:prstGeom>
          <a:solidFill>
            <a:srgbClr val="1F3354"/>
          </a:solidFill>
          <a:ln>
            <a:noFill/>
          </a:ln>
        </p:spPr>
        <p:style>
          <a:lnRef idx="1">
            <a:schemeClr val="accent1"/>
          </a:lnRef>
          <a:fillRef idx="3">
            <a:schemeClr val="accent1"/>
          </a:fillRef>
          <a:effectRef idx="2">
            <a:schemeClr val="accent1"/>
          </a:effectRef>
          <a:fontRef idx="minor">
            <a:schemeClr val="lt1"/>
          </a:fontRef>
        </p:style>
        <p:txBody>
          <a:bodyPr wrap="square" lIns="177800" rtlCol="0" anchor="ctr"/>
          <a:lstStyle/>
          <a:p>
            <a:pPr algn="ctr"/>
            <a:r>
              <a:rPr sz="1400" b="1">
                <a:solidFill>
                  <a:srgbClr val="B8860B"/>
                </a:solidFill>
              </a:rPr>
              <a:t>Decision-making: </a:t>
            </a:r>
            <a:r>
              <a:rPr sz="1400">
                <a:solidFill>
                  <a:srgbClr val="FFFFFF"/>
                </a:solidFill>
              </a:rPr>
              <a:t>team lead approves technical decisions (with mentor input); code merges via personal branch + review.</a:t>
            </a:r>
          </a:p>
        </p:txBody>
      </p:sp>
      <p:sp>
        <p:nvSpPr>
          <p:cNvPr id="13" name="TextBox 12"/>
          <p:cNvSpPr txBox="1"/>
          <p:nvPr/>
        </p:nvSpPr>
        <p:spPr>
          <a:xfrm>
            <a:off x="502920" y="6492240"/>
            <a:ext cx="10820095" cy="274320"/>
          </a:xfrm>
          <a:prstGeom prst="rect">
            <a:avLst/>
          </a:prstGeom>
          <a:noFill/>
        </p:spPr>
        <p:txBody>
          <a:bodyPr wrap="none">
            <a:spAutoFit/>
          </a:bodyPr>
          <a:lstStyle/>
          <a:p>
            <a:r>
              <a:rPr sz="1000">
                <a:solidFill>
                  <a:srgbClr val="555555"/>
                </a:solidFill>
              </a:rPr>
              <a:t>Full detail: docs/team_rnr.md, docs/RnR_Proposal.docx · CleanCAD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3687</Words>
  <Application>Microsoft Macintosh PowerPoint</Application>
  <PresentationFormat>와이드스크린</PresentationFormat>
  <Paragraphs>293</Paragraphs>
  <Slides>17</Slides>
  <Notes>17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junoh1465@gmail.com</cp:lastModifiedBy>
  <cp:revision>3</cp:revision>
  <dcterms:created xsi:type="dcterms:W3CDTF">2013-01-27T09:14:16Z</dcterms:created>
  <dcterms:modified xsi:type="dcterms:W3CDTF">2026-09-29T11:01:49Z</dcterms:modified>
  <cp:category/>
</cp:coreProperties>
</file>